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78" r:id="rId30"/>
    <p:sldId id="279" r:id="rId31"/>
    <p:sldId id="280" r:id="rId32"/>
    <p:sldId id="281" r:id="rId33"/>
    <p:sldId id="282" r:id="rId34"/>
    <p:sldId id="283" r:id="rId35"/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ção" id="{5BFDFDC3-B428-0CF5-BF33-9139CFFF23D6}">
          <p14:sldIdLst>
            <p14:sldId id="256"/>
            <p14:sldId id="257"/>
            <p14:sldId id="258"/>
          </p14:sldIdLst>
        </p14:section>
        <p14:section name="Construir a UI" id="{5793AC66-0E9B-E789-3EEF-CE158DBBB1B0}">
          <p14:sldIdLst>
            <p14:sldId id="259"/>
            <p14:sldId id="260"/>
            <p14:sldId id="261"/>
          </p14:sldIdLst>
        </p14:section>
        <p14:section name="Estado e síntese" id="{7CEC3FB3-045D-C609-0B2D-72020EC6F09A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4" dt="2026-10-06T00:41:36.9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E19202-D199-4DC5-BBF3-489DD60FF846}" type="datetimeFigureOut">
              <a:t>05/10/2026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8F7E82-C418-4B19-B1B6-BA3669E44BB6}" type="slidenum"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26164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Já vimos como construir o mesmo formulário em XML e em Jetpack Compose (apontar a primeira etapa da imagem). Mas criar a interface é só uma parte do desenvolvimento. É também importante garantir que ela continua fácil de utilizar quando as condições de utilização mudam.</a:t>
            </a:r>
          </a:p>
          <a:p>
            <a:r>
              <a:rPr lang="pt-PT" dirty="0"/>
              <a:t>É aqui que entra a UX, a experiência do utilizador. Está relacionada com a facilidade de utilização, a compreensão da interface e a forma como a aplicação responde às ações do utilizador (apontar os três pontos).</a:t>
            </a:r>
          </a:p>
          <a:p>
            <a:r>
              <a:rPr lang="pt-PT" dirty="0"/>
              <a:t>Por isso, a adaptação a diferentes ecrãs, a consistência visual e a acessibilidade têm impacto direto na experiência do utilizador. É a partir daqui que vamos ver como tornar a nossa interface mais adaptativa.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Uma interface adaptativa ajusta a sua apresentação às características do dispositivo e ao espaço disponível: o tamanho do ecrã, a orientação, o espaço disponível e dispositivos diferentes (apontar os quatro cartões).</a:t>
            </a:r>
          </a:p>
          <a:p>
            <a:r>
              <a:rPr lang="pt-PT" dirty="0"/>
              <a:t>No Android, não podemos assumir que todos usam a aplicação da mesma forma. O utilizador pode ter outro ecrã, rodar o telemóvel ou usar outro dispositivo. O mesmo formulário tem de funcionar em todas estas situações (apontar o desenho à direita).</a:t>
            </a:r>
          </a:p>
          <a:p>
            <a:r>
              <a:rPr lang="pt-PT" dirty="0"/>
              <a:t>Por isso, uma interface adaptativa procura manter-se utilizável e organizada.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Uma das situações mais simples é a rotação do dispositivo: o utilizador passa de vertical para horizontal e o espaço muda por completo.</a:t>
            </a:r>
          </a:p>
          <a:p>
            <a:r>
              <a:rPr lang="pt-PT" dirty="0"/>
              <a:t>Se a interface foi pensada só para vertical, os componentes podem ficar apertados, mal posicionados ou deixar de estar visíveis (apontar a imagem da esquerda). Numa interface adaptada, a organização ajusta-se ao espaço e os elementos continuam utilizáveis (apontar a imagem da direita). Isto vale para XML e para Compose (apontar o terceiro cartão).</a:t>
            </a:r>
          </a:p>
          <a:p>
            <a:r>
              <a:rPr lang="pt-PT" dirty="0"/>
              <a:t>XML: podemos definir layouts diferentes para cada configuração: um layout para portrait e outro para landscape (layout-land), com os mesmos componentes e funcionalidades.</a:t>
            </a:r>
          </a:p>
          <a:p>
            <a:r>
              <a:rPr lang="pt-PT" dirty="0"/>
              <a:t>DEMO XML: mostrar em portrait e alterar para landscape no botão dentro de Design. Mostrar o código do landscape e dizer que é igual, apenas foi adaptado ao espaço. Tutorial do layout-land: eliminá-lo e criá-lo de novo (Project: app → res → novo Android resource directory, resource type "layout", qualifier "orientation" → landscape; copiar para lá).</a:t>
            </a:r>
          </a:p>
          <a:p>
            <a:r>
              <a:rPr lang="pt-PT" dirty="0"/>
              <a:t>"Aqui temos duas versões do layout: uma para a orientação vertical e outra para a horizontal. O Android seleciona automaticamente a configuração adequada."</a:t>
            </a:r>
          </a:p>
          <a:p>
            <a:r>
              <a:rPr lang="pt-PT" dirty="0"/>
              <a:t>Compose: não precisamos necessariamente de um segundo ficheiro de layout. A interface é construída com Composables e adapta-se ao espaço e à configuração disponíveis.</a:t>
            </a:r>
          </a:p>
          <a:p>
            <a:r>
              <a:rPr lang="pt-PT" dirty="0"/>
              <a:t>DEMO Compose: usar o Preview do Android Studio para não reabrir a aplicação. Mostrar o ComposeActivity, as variáveis que detetam a orientação e que passamos essa info ao Formulario, que a recebe com valor por defeito false (não está em landscape).</a:t>
            </a:r>
          </a:p>
          <a:p>
            <a:r>
              <a:rPr lang="pt-PT" dirty="0"/>
              <a:t>"No Compose, a adaptação é feita na própria construção da interface. O objetivo não é criar uma interface para um formato específico, mas pensar desde o início no que acontece quando o espaço muda."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Vimos como adaptar a interface quando o espaço muda. Mas ela também deve manter uma apresentação consistente e familiar.</a:t>
            </a:r>
          </a:p>
          <a:p>
            <a:r>
              <a:rPr lang="pt-PT" dirty="0"/>
              <a:t>É aqui que entra o Material Design 3, o sistema de design da Google para Android. Define componentes, cores, tipografia, formas, espaçamento e interação (apontar os seis cartões).</a:t>
            </a:r>
          </a:p>
          <a:p>
            <a:r>
              <a:rPr lang="pt-PT" dirty="0"/>
              <a:t>Em vez de criarmos os componentes básicos, usamos componentes Material, como o MaterialButton, que já seguem as regras visuais e de interação e se personalizam pelo tema.</a:t>
            </a:r>
          </a:p>
          <a:p>
            <a:r>
              <a:rPr lang="pt-PT" dirty="0"/>
              <a:t>No nosso formulário: o EditText passou para TextInputLayout com TextInputEditText, o Button passou para MaterialButton e o RadioButton para MaterialRadioButton (apontar a caixa verde).</a:t>
            </a:r>
          </a:p>
          <a:p>
            <a:r>
              <a:rPr lang="pt-PT" dirty="0"/>
              <a:t>DEMO XML: mostrar a versão XML original e os componentes utilizados; destacar as três trocas no código; mostrar a versão Material 3 e comparar visualmente.</a:t>
            </a:r>
          </a:p>
          <a:p>
            <a:r>
              <a:rPr lang="pt-PT" dirty="0"/>
              <a:t>"Partimos da mesma estrutura funcional, mas com componentes que tornam a interface mais consistente."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No Compose, a abordagem é diferente. Em vez de substituir componentes num ficheiro XML (apontar o cartão XML), construímos a interface diretamente com Composables do Material 3, como TextField, Button e MaterialTheme (apontar o cartão Compose e as três etiquetas).</a:t>
            </a:r>
          </a:p>
          <a:p>
            <a:r>
              <a:rPr lang="pt-PT" dirty="0"/>
              <a:t>O MaterialTheme define e centraliza propriedades visuais, como cores, tipografia e formas. Em vez de configurar cada componente, definimos uma aparência comum para toda a aplicação.</a:t>
            </a:r>
          </a:p>
          <a:p>
            <a:r>
              <a:rPr lang="pt-PT" dirty="0"/>
              <a:t>DEMO Compose: ir para o MaterialDesignActivity. Mostrar os componentes Material 3 (estão comentados) e o Preview. Apontar para o MaterialTheme: "Todos estes componentes estão dentro do MaterialTheme, que permite definir uma aparência comum para a aplicação." Descer ao Text dentro do Formulario e alterar a tipografia: comentar fontSize e fontWeight e pôr o style que está comentado.</a:t>
            </a:r>
          </a:p>
          <a:p>
            <a:r>
              <a:rPr lang="pt-PT" dirty="0"/>
              <a:t>"Assim, no Compose, podemos utilizar diretamente os componentes Material 3 e controlar a aparência da aplicação através do MaterialTheme."</a:t>
            </a:r>
          </a:p>
          <a:p>
            <a:r>
              <a:rPr lang="pt-PT" dirty="0"/>
              <a:t>Isto facilita também a criação de temas diferentes, como Light Mode e Dark Mode, sem configurar cada componente.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XML: mostrar themes.xml, Light Mode e depois Dark Mode. Os componentes Material mudam sozinhos, mas o botão Submeter não, porque tem uma cor fixa. Só existe colors.xml para o Light Mode: criar o colors.xml do Dark Mode (values-night) e usar o mesmo nome de cor nos dois. Adaptar o activity_form_material.xml para a cor vermelha e demonstrar Light e Dark. Compose: alterar o MainActivity para abrir o DarkLightMode; mostrar as variáveis, como o tema é escolhido pela variável darkMode e que é aplicado ao MaterialTheme.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Uma interface não deve ser pensada só para quem a usa da forma habitual. A acessibilidade procura que o maior número possível de pessoas a possa usar, com diferentes necessidades visuais, motoras ou cognitivas.</a:t>
            </a:r>
          </a:p>
          <a:p>
            <a:r>
              <a:rPr lang="pt-PT" dirty="0"/>
              <a:t>No nosso formulário, traduz-se em cuidados simples: texto legível, contraste suficiente, elementos com tamanho adequado, campos e botões claramente identificados e suporte a tecnologias de assistência (apontar a lista).</a:t>
            </a:r>
          </a:p>
          <a:p>
            <a:r>
              <a:rPr lang="pt-PT" dirty="0"/>
              <a:t>XML: quando temos um ícone ou imagem sem texto, usamos android:contentDescription para uma descrição que as tecnologias de assistência possam ler. E o strings.xml guarda os textos como recursos.</a:t>
            </a:r>
          </a:p>
          <a:p>
            <a:r>
              <a:rPr lang="pt-PT" dirty="0"/>
              <a:t>DEMO XML: mostrar o formulário e ir lendo os comentários sobre acessibilidade. No exemplo do botão vermelho não há contraste entre o texto e a cor do botão.</a:t>
            </a:r>
          </a:p>
          <a:p>
            <a:r>
              <a:rPr lang="pt-PT" dirty="0"/>
              <a:t>"Apesar do botão funcionar, a combinação de cores não tem contraste suficiente, o que dificulta a leitura. Uma interface funcionar não significa que seja acessível."</a:t>
            </a:r>
          </a:p>
          <a:p>
            <a:r>
              <a:rPr lang="pt-PT" dirty="0"/>
              <a:t>Compose: TextField e Button já têm semântica própria. Quando precisamos de informação adicional, podemos usar Modifier.semantics. Melhoramos a acessibilidade com labels claros, texto legível, contraste adequado e elementos com tamanho apropriado.</a:t>
            </a:r>
          </a:p>
          <a:p>
            <a:r>
              <a:rPr lang="pt-PT" dirty="0"/>
              <a:t>DEMO Compose: 1) abrir o AccessibilityActivity no Preview e mostrar: título pequeno, texto com pouco contraste, campos sem identificação, botão e texto do botão pequenos. Dizer: "Nesta versão criámos problemas de acessibilidade de propósito." 2) abrir o ComposeFormActivity: "Na versão acessível, os campos estão identificados e os tamanhos são mais adequados."</a:t>
            </a:r>
          </a:p>
          <a:p>
            <a:r>
              <a:rPr lang="pt-PT" dirty="0"/>
              <a:t>"Uma interface não é acessível só porque funciona visualmente. É importante que os elementos sejam legíveis, identificáveis e fáceis de utilizar."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Resumindo (apontar as três colunas).</a:t>
            </a:r>
          </a:p>
          <a:p>
            <a:r>
              <a:rPr lang="pt-PT" dirty="0"/>
              <a:t>Vantagens: adaptação a vários ecrãs, consistência com o Material, suporte a Light e Dark Mode e mais acessibilidade.</a:t>
            </a:r>
          </a:p>
          <a:p>
            <a:r>
              <a:rPr lang="pt-PT" dirty="0"/>
              <a:t>Dificuldades: é preciso testar tamanhos e orientações, há código adicional, é preciso cuidar do contraste e XML e Compose usam abordagens diferentes.</a:t>
            </a:r>
          </a:p>
          <a:p>
            <a:r>
              <a:rPr lang="pt-PT" dirty="0"/>
              <a:t>Erros frequentes: pensar só em vertical, usar dimensões fixas, usar cores fixas, pouco contraste, elementos pequenos e deixar a acessibilidade para o fim.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 20 a 30 segundos para a turma votar (A, B, C ou D) antes de passar ao slide seguinte.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Resposta B. Outros dispositivos têm tamanhos e orientações diferentes, e a interface pode deixar de estar organizada ou funcional. A C está errada porque usar Material não garante adaptação, e a D porque o problema existe tanto no XML como no Compose.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 20 a 30 segundos para a turma votar (A, B, C ou D) antes de passar ao slide seguinte.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Resposta C. Os componentes Material dão consistência e já trazem comportamento; personalizamos quando há uma necessidade específica, de preferência pelo tema. A A perde consistência e dá muito trabalho, a B é rígida demais e a D contraria a ideia de 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Conclusão feita em conjunto pelos três elementos.</a:t>
            </a:r>
          </a:p>
          <a:p>
            <a:r>
              <a:rPr lang="pt-PT" dirty="0"/>
              <a:t>Vimos formas de desenvolver uma interface Android, desde o XML com View Binding até ao Jetpack Compose. Vimos também que não basta construir uma interface que funcione: tem de se adaptar a diferentes tamanhos e orientações, manter uma apresentação consistente e ser acessível (apontar os três cartões).</a:t>
            </a:r>
          </a:p>
          <a:p>
            <a:r>
              <a:rPr lang="pt-PT" dirty="0"/>
              <a:t>A escolha entre XML e Compose altera a forma como construímos a interface, mas os princípios de boa experiência de utilização mantêm-se.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920240"/>
            <a:ext cx="64008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8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3759675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8696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6B6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042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9" Type="http://schemas.openxmlformats.org/officeDocument/2006/relationships/image" Target="../media/int_image1.png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9" Type="http://schemas.openxmlformats.org/officeDocument/2006/relationships/image" Target="../media/int_image2.png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9" Type="http://schemas.openxmlformats.org/officeDocument/2006/relationships/image" Target="../media/int_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822960" y="210312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Jetpack Compose</a:t>
            </a:r>
            <a:endParaRPr lang="en-US" sz="5200" dirty="0"/>
          </a:p>
        </p:txBody>
      </p:sp>
      <p:sp>
        <p:nvSpPr>
          <p:cNvPr id="3" name="Subtítulo"/>
          <p:cNvSpPr txBox="1"/>
          <p:nvPr/>
        </p:nvSpPr>
        <p:spPr>
          <a:xfrm>
            <a:off x="822960" y="33832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chemeClr val="accent5"/>
                </a:solidFill>
              </a:rPr>
              <a:t>Uma nova abordagem para construir interfaces Android</a:t>
            </a:r>
            <a:endParaRPr lang="en-US" sz="2200" dirty="0"/>
          </a:p>
        </p:txBody>
      </p:sp>
      <p:sp>
        <p:nvSpPr>
          <p:cNvPr id="4" name="Círculo grande"/>
          <p:cNvSpPr/>
          <p:nvPr/>
        </p:nvSpPr>
        <p:spPr>
          <a:xfrm>
            <a:off x="6949440" y="1143000"/>
            <a:ext cx="4572000" cy="457200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5" name="Círculo escuro"/>
          <p:cNvSpPr/>
          <p:nvPr/>
        </p:nvSpPr>
        <p:spPr>
          <a:xfrm>
            <a:off x="10972800" y="73152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" name="Círculo verde"/>
          <p:cNvSpPr/>
          <p:nvPr/>
        </p:nvSpPr>
        <p:spPr>
          <a:xfrm>
            <a:off x="6492240" y="493776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Pílula Declarativo"/>
          <p:cNvSpPr/>
          <p:nvPr/>
        </p:nvSpPr>
        <p:spPr>
          <a:xfrm>
            <a:off x="7863840" y="2240280"/>
            <a:ext cx="2743200" cy="5669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8" name="Pílula texto Declarativo"/>
          <p:cNvSpPr txBox="1"/>
          <p:nvPr/>
        </p:nvSpPr>
        <p:spPr>
          <a:xfrm>
            <a:off x="7863840" y="22402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Declarativo</a:t>
            </a:r>
            <a:endParaRPr lang="en-US" sz="1800" dirty="0"/>
          </a:p>
        </p:txBody>
      </p:sp>
      <p:sp>
        <p:nvSpPr>
          <p:cNvPr id="9" name="Pílula Reativo"/>
          <p:cNvSpPr/>
          <p:nvPr/>
        </p:nvSpPr>
        <p:spPr>
          <a:xfrm>
            <a:off x="7863840" y="3154680"/>
            <a:ext cx="2743200" cy="5669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10" name="Pílula texto Reativo"/>
          <p:cNvSpPr txBox="1"/>
          <p:nvPr/>
        </p:nvSpPr>
        <p:spPr>
          <a:xfrm>
            <a:off x="7863840" y="31546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Reativo</a:t>
            </a:r>
            <a:endParaRPr lang="en-US" sz="1800" dirty="0"/>
          </a:p>
        </p:txBody>
      </p:sp>
      <p:sp>
        <p:nvSpPr>
          <p:cNvPr id="11" name="Pílula Composicional"/>
          <p:cNvSpPr/>
          <p:nvPr/>
        </p:nvSpPr>
        <p:spPr>
          <a:xfrm>
            <a:off x="7863840" y="4069080"/>
            <a:ext cx="2743200" cy="5669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12" name="Pílula texto Composicional"/>
          <p:cNvSpPr txBox="1"/>
          <p:nvPr/>
        </p:nvSpPr>
        <p:spPr>
          <a:xfrm>
            <a:off x="7863840" y="40690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Composicional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Contextualização</a:t>
            </a:r>
            <a:endParaRPr lang="en-US" sz="3400" dirty="0"/>
          </a:p>
        </p:txBody>
      </p:sp>
      <p:sp>
        <p:nvSpPr>
          <p:cNvPr id="3" name="Cartão 1"/>
          <p:cNvSpPr/>
          <p:nvPr/>
        </p:nvSpPr>
        <p:spPr>
          <a:xfrm>
            <a:off x="548640" y="1554480"/>
            <a:ext cx="53949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4" name="Número 1"/>
          <p:cNvSpPr/>
          <p:nvPr/>
        </p:nvSpPr>
        <p:spPr>
          <a:xfrm>
            <a:off x="822960" y="21259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Número 1 n"/>
          <p:cNvSpPr txBox="1"/>
          <p:nvPr/>
        </p:nvSpPr>
        <p:spPr>
          <a:xfrm>
            <a:off x="822960" y="21259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o 1"/>
          <p:cNvSpPr txBox="1"/>
          <p:nvPr/>
        </p:nvSpPr>
        <p:spPr>
          <a:xfrm>
            <a:off x="1508760" y="1691640"/>
            <a:ext cx="4160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O Jetpack Compose é um toolkit moderno de UI para Android, desenvolvido pela Google</a:t>
            </a:r>
            <a:endParaRPr lang="en-US" sz="1600" dirty="0"/>
          </a:p>
        </p:txBody>
      </p:sp>
      <p:sp>
        <p:nvSpPr>
          <p:cNvPr id="7" name="Cartão 2"/>
          <p:cNvSpPr/>
          <p:nvPr/>
        </p:nvSpPr>
        <p:spPr>
          <a:xfrm>
            <a:off x="6245352" y="1554480"/>
            <a:ext cx="53949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8" name="Número 2"/>
          <p:cNvSpPr/>
          <p:nvPr/>
        </p:nvSpPr>
        <p:spPr>
          <a:xfrm>
            <a:off x="6519672" y="21259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Número 2 n"/>
          <p:cNvSpPr txBox="1"/>
          <p:nvPr/>
        </p:nvSpPr>
        <p:spPr>
          <a:xfrm>
            <a:off x="6519672" y="21259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o 2"/>
          <p:cNvSpPr txBox="1"/>
          <p:nvPr/>
        </p:nvSpPr>
        <p:spPr>
          <a:xfrm>
            <a:off x="7205472" y="1691640"/>
            <a:ext cx="4160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Surgiu para simplificar o desenvolvimento de interfaces Android, reduzindo a complexidade do modelo tradicional Views + XML</a:t>
            </a:r>
            <a:endParaRPr lang="en-US" sz="1600" dirty="0"/>
          </a:p>
        </p:txBody>
      </p:sp>
      <p:sp>
        <p:nvSpPr>
          <p:cNvPr id="11" name="Cartão 3"/>
          <p:cNvSpPr/>
          <p:nvPr/>
        </p:nvSpPr>
        <p:spPr>
          <a:xfrm>
            <a:off x="548640" y="3383280"/>
            <a:ext cx="53949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12" name="Número 3"/>
          <p:cNvSpPr/>
          <p:nvPr/>
        </p:nvSpPr>
        <p:spPr>
          <a:xfrm>
            <a:off x="822960" y="39547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Número 3 n"/>
          <p:cNvSpPr txBox="1"/>
          <p:nvPr/>
        </p:nvSpPr>
        <p:spPr>
          <a:xfrm>
            <a:off x="82296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o 3"/>
          <p:cNvSpPr txBox="1"/>
          <p:nvPr/>
        </p:nvSpPr>
        <p:spPr>
          <a:xfrm>
            <a:off x="1508760" y="3520440"/>
            <a:ext cx="4160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Apresentado publicamente em 2019, com a primeira versão estável lançada em 2021</a:t>
            </a:r>
            <a:endParaRPr lang="en-US" sz="1600" dirty="0"/>
          </a:p>
        </p:txBody>
      </p:sp>
      <p:sp>
        <p:nvSpPr>
          <p:cNvPr id="15" name="Cartão 4"/>
          <p:cNvSpPr/>
          <p:nvPr/>
        </p:nvSpPr>
        <p:spPr>
          <a:xfrm>
            <a:off x="6245352" y="3383280"/>
            <a:ext cx="53949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16" name="Número 4"/>
          <p:cNvSpPr/>
          <p:nvPr/>
        </p:nvSpPr>
        <p:spPr>
          <a:xfrm>
            <a:off x="6519672" y="39547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Número 4 n"/>
          <p:cNvSpPr txBox="1"/>
          <p:nvPr/>
        </p:nvSpPr>
        <p:spPr>
          <a:xfrm>
            <a:off x="6519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o 4"/>
          <p:cNvSpPr txBox="1"/>
          <p:nvPr/>
        </p:nvSpPr>
        <p:spPr>
          <a:xfrm>
            <a:off x="7205472" y="3520440"/>
            <a:ext cx="4160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O objetivo é descrever o que a interface deve apresentar e deixar o Compose tratar da sua atualização</a:t>
            </a:r>
            <a:endParaRPr lang="en-US" sz="1600" dirty="0"/>
          </a:p>
        </p:txBody>
      </p:sp>
      <p:sp>
        <p:nvSpPr>
          <p:cNvPr id="19" name="Pergunta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sp>
        <p:nvSpPr>
          <p:cNvPr id="20" name="Pergunta texto"/>
          <p:cNvSpPr txBox="1"/>
          <p:nvPr/>
        </p:nvSpPr>
        <p:spPr>
          <a:xfrm>
            <a:off x="868680" y="5349240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Mas como o Compose muda a nossa forma de pensar a interface?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Pensar em Compose</a:t>
            </a:r>
            <a:endParaRPr lang="en-US" sz="3400" dirty="0"/>
          </a:p>
        </p:txBody>
      </p:sp>
      <p:sp>
        <p:nvSpPr>
          <p:cNvPr id="3" name="Citação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chemeClr val="tx1"/>
                </a:solidFill>
              </a:rPr>
              <a:t>“Construct UI by describing </a:t>
            </a:r>
            <a:r>
              <a:rPr lang="en-US" sz="2200" b="1" i="1" dirty="0">
                <a:solidFill>
                  <a:schemeClr val="accent1"/>
                </a:solidFill>
              </a:rPr>
              <a:t>what</a:t>
            </a:r>
            <a:r>
              <a:rPr lang="en-US" sz="2200" i="1" dirty="0">
                <a:solidFill>
                  <a:schemeClr val="tx1"/>
                </a:solidFill>
              </a:rPr>
              <a:t>, not </a:t>
            </a:r>
            <a:r>
              <a:rPr lang="en-US" sz="2200" b="1" i="1" dirty="0">
                <a:solidFill>
                  <a:schemeClr val="accent1"/>
                </a:solidFill>
              </a:rPr>
              <a:t>how</a:t>
            </a:r>
            <a:r>
              <a:rPr lang="en-US" sz="2200" i="1" dirty="0">
                <a:solidFill>
                  <a:schemeClr val="tx1"/>
                </a:solidFill>
              </a:rPr>
              <a:t>”</a:t>
            </a:r>
            <a:endParaRPr lang="en-US" sz="2200" dirty="0"/>
          </a:p>
        </p:txBody>
      </p:sp>
      <p:sp>
        <p:nvSpPr>
          <p:cNvPr id="4" name="Cartão 1"/>
          <p:cNvSpPr/>
          <p:nvPr/>
        </p:nvSpPr>
        <p:spPr>
          <a:xfrm>
            <a:off x="548640" y="2057400"/>
            <a:ext cx="539496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5" name="Número 1"/>
          <p:cNvSpPr/>
          <p:nvPr/>
        </p:nvSpPr>
        <p:spPr>
          <a:xfrm>
            <a:off x="822960" y="2423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Número 1 n"/>
          <p:cNvSpPr txBox="1"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o 1"/>
          <p:cNvSpPr txBox="1"/>
          <p:nvPr/>
        </p:nvSpPr>
        <p:spPr>
          <a:xfrm>
            <a:off x="1508760" y="21488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Os elementos Compose são funções e não objetos: não temos uma referência a eles nem chamamos métodos para os modificar</a:t>
            </a:r>
            <a:endParaRPr lang="en-US" sz="1500" dirty="0"/>
          </a:p>
        </p:txBody>
      </p:sp>
      <p:sp>
        <p:nvSpPr>
          <p:cNvPr id="8" name="Cartão 2"/>
          <p:cNvSpPr/>
          <p:nvPr/>
        </p:nvSpPr>
        <p:spPr>
          <a:xfrm>
            <a:off x="6245352" y="2057400"/>
            <a:ext cx="539496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9" name="Número 2"/>
          <p:cNvSpPr/>
          <p:nvPr/>
        </p:nvSpPr>
        <p:spPr>
          <a:xfrm>
            <a:off x="6519672" y="2423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Número 2 n"/>
          <p:cNvSpPr txBox="1"/>
          <p:nvPr/>
        </p:nvSpPr>
        <p:spPr>
          <a:xfrm>
            <a:off x="6519672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o 2"/>
          <p:cNvSpPr txBox="1"/>
          <p:nvPr/>
        </p:nvSpPr>
        <p:spPr>
          <a:xfrm>
            <a:off x="7205472" y="21488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 UI é controlada pelo estado e pelos argumentos que fornecemos às funções</a:t>
            </a:r>
            <a:endParaRPr lang="en-US" sz="1500" dirty="0"/>
          </a:p>
        </p:txBody>
      </p:sp>
      <p:sp>
        <p:nvSpPr>
          <p:cNvPr id="12" name="Cartão 3"/>
          <p:cNvSpPr/>
          <p:nvPr/>
        </p:nvSpPr>
        <p:spPr>
          <a:xfrm>
            <a:off x="548640" y="3429000"/>
            <a:ext cx="539496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3" name="Número 3"/>
          <p:cNvSpPr/>
          <p:nvPr/>
        </p:nvSpPr>
        <p:spPr>
          <a:xfrm>
            <a:off x="822960" y="3794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Número 3 n"/>
          <p:cNvSpPr txBox="1"/>
          <p:nvPr/>
        </p:nvSpPr>
        <p:spPr>
          <a:xfrm>
            <a:off x="82296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o 3"/>
          <p:cNvSpPr txBox="1"/>
          <p:nvPr/>
        </p:nvSpPr>
        <p:spPr>
          <a:xfrm>
            <a:off x="1508760" y="35204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Declaramos o que a UI deve apresentar, fornecendo o estado necessário, e não como o Compose a deve renderizar</a:t>
            </a:r>
            <a:endParaRPr lang="en-US" sz="1500" dirty="0"/>
          </a:p>
        </p:txBody>
      </p:sp>
      <p:sp>
        <p:nvSpPr>
          <p:cNvPr id="16" name="Cartão 4"/>
          <p:cNvSpPr/>
          <p:nvPr/>
        </p:nvSpPr>
        <p:spPr>
          <a:xfrm>
            <a:off x="6245352" y="3429000"/>
            <a:ext cx="539496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7" name="Número 4"/>
          <p:cNvSpPr/>
          <p:nvPr/>
        </p:nvSpPr>
        <p:spPr>
          <a:xfrm>
            <a:off x="6519672" y="3794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Número 4 n"/>
          <p:cNvSpPr txBox="1"/>
          <p:nvPr/>
        </p:nvSpPr>
        <p:spPr>
          <a:xfrm>
            <a:off x="6519672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o 4"/>
          <p:cNvSpPr txBox="1"/>
          <p:nvPr/>
        </p:nvSpPr>
        <p:spPr>
          <a:xfrm>
            <a:off x="7205472" y="35204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Quando o estado muda, o Compose recompõe as partes necessárias da UI</a:t>
            </a:r>
            <a:endParaRPr lang="en-US" sz="1500" dirty="0"/>
          </a:p>
        </p:txBody>
      </p:sp>
      <p:sp>
        <p:nvSpPr>
          <p:cNvPr id="20" name="Pergunta"/>
          <p:cNvSpPr/>
          <p:nvPr/>
        </p:nvSpPr>
        <p:spPr>
          <a:xfrm>
            <a:off x="548640" y="4937760"/>
            <a:ext cx="11091672" cy="6858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sp>
        <p:nvSpPr>
          <p:cNvPr id="21" name="Pergunta texto"/>
          <p:cNvSpPr txBox="1"/>
          <p:nvPr/>
        </p:nvSpPr>
        <p:spPr>
          <a:xfrm>
            <a:off x="868680" y="4937760"/>
            <a:ext cx="10451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O estado controla a UI, porém como esse estado é atualizado? E a UI?</a:t>
            </a:r>
            <a:endParaRPr lang="en-US" sz="1800" dirty="0"/>
          </a:p>
        </p:txBody>
      </p:sp>
      <p:sp>
        <p:nvSpPr>
          <p:cNvPr id="22" name="Nota"/>
          <p:cNvSpPr txBox="1"/>
          <p:nvPr/>
        </p:nvSpPr>
        <p:spPr>
          <a:xfrm>
            <a:off x="548640" y="57607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accent5"/>
                </a:solidFill>
              </a:rPr>
              <a:t>Antes de percebermos como o estado muda, vamos perceber como construímos a UI em Compose.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Composable Functions</a:t>
            </a:r>
            <a:endParaRPr lang="en-US" sz="3400" dirty="0"/>
          </a:p>
        </p:txBody>
      </p:sp>
      <p:sp>
        <p:nvSpPr>
          <p:cNvPr id="3" name="Cartão @Composable"/>
          <p:cNvSpPr/>
          <p:nvPr/>
        </p:nvSpPr>
        <p:spPr>
          <a:xfrm>
            <a:off x="548640" y="1554480"/>
            <a:ext cx="420624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4" name="Cabeçalho @Composable"/>
          <p:cNvSpPr txBox="1"/>
          <p:nvPr/>
        </p:nvSpPr>
        <p:spPr>
          <a:xfrm>
            <a:off x="868680" y="1737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@Composable</a:t>
            </a:r>
            <a:endParaRPr lang="en-US" sz="2200" dirty="0"/>
          </a:p>
        </p:txBody>
      </p:sp>
      <p:sp>
        <p:nvSpPr>
          <p:cNvPr id="5" name="Texto @Composable"/>
          <p:cNvSpPr txBox="1"/>
          <p:nvPr/>
        </p:nvSpPr>
        <p:spPr>
          <a:xfrm>
            <a:off x="868680" y="2377440"/>
            <a:ext cx="3611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Informa o compilador de que a função tem o propósito de descrever uma interface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Estas funções são os blocos de construção da UI</a:t>
            </a:r>
            <a:endParaRPr lang="en-US" sz="1700" dirty="0"/>
          </a:p>
        </p:txBody>
      </p:sp>
      <p:sp>
        <p:nvSpPr>
          <p:cNvPr id="6" name="Cartão Funcionamento"/>
          <p:cNvSpPr/>
          <p:nvPr/>
        </p:nvSpPr>
        <p:spPr>
          <a:xfrm>
            <a:off x="5029200" y="1554480"/>
            <a:ext cx="6611112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7" name="Cabeçalho Funcionamento"/>
          <p:cNvSpPr txBox="1"/>
          <p:nvPr/>
        </p:nvSpPr>
        <p:spPr>
          <a:xfrm>
            <a:off x="5349240" y="17373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Funcionamento</a:t>
            </a:r>
            <a:endParaRPr lang="en-US" sz="2200" dirty="0"/>
          </a:p>
        </p:txBody>
      </p:sp>
      <p:sp>
        <p:nvSpPr>
          <p:cNvPr id="8" name="Texto Funcionamento"/>
          <p:cNvSpPr txBox="1"/>
          <p:nvPr/>
        </p:nvSpPr>
        <p:spPr>
          <a:xfrm>
            <a:off x="5349240" y="2377440"/>
            <a:ext cx="5989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 UI é construída compondo funções @Composable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Os Composables são imutáveis e não têm uma referência para serem modificados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 informação necessária é passada através de parâmetros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As funções devem ser rápidas e sem efeitos secundários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Com os mesmos argumentos, devem produzir o mesmo resultado</a:t>
            </a:r>
            <a:endParaRPr lang="en-US" sz="1700" dirty="0"/>
          </a:p>
        </p:txBody>
      </p:sp>
      <p:sp>
        <p:nvSpPr>
          <p:cNvPr id="9" name="Pergunta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</p:sp>
      <p:sp>
        <p:nvSpPr>
          <p:cNvPr id="10" name="Pergunta texto"/>
          <p:cNvSpPr txBox="1"/>
          <p:nvPr/>
        </p:nvSpPr>
        <p:spPr>
          <a:xfrm>
            <a:off x="868680" y="5349240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Já sabemos como funcionam os Composables. Mas, na prática, que elementos usamos para construir uma interface?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Building Blocks do Compose</a:t>
            </a:r>
            <a:endParaRPr lang="en-US" sz="3400" dirty="0"/>
          </a:p>
        </p:txBody>
      </p:sp>
      <p:sp>
        <p:nvSpPr>
          <p:cNvPr id="3" name="Cartão Elementos de UI"/>
          <p:cNvSpPr/>
          <p:nvPr/>
        </p:nvSpPr>
        <p:spPr>
          <a:xfrm>
            <a:off x="548640" y="1645920"/>
            <a:ext cx="352044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/>
        </p:spPr>
      </p:sp>
      <p:sp>
        <p:nvSpPr>
          <p:cNvPr id="4" name="Cabeçalho Elementos de UI"/>
          <p:cNvSpPr txBox="1"/>
          <p:nvPr/>
        </p:nvSpPr>
        <p:spPr>
          <a:xfrm>
            <a:off x="868680" y="18288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Elementos de UI</a:t>
            </a:r>
            <a:endParaRPr lang="en-US" sz="2200" dirty="0"/>
          </a:p>
        </p:txBody>
      </p:sp>
      <p:sp>
        <p:nvSpPr>
          <p:cNvPr id="5" name="Chip Text"/>
          <p:cNvSpPr/>
          <p:nvPr/>
        </p:nvSpPr>
        <p:spPr>
          <a:xfrm>
            <a:off x="868680" y="2606040"/>
            <a:ext cx="2880360" cy="56692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6" name="Chip texto Text"/>
          <p:cNvSpPr txBox="1"/>
          <p:nvPr/>
        </p:nvSpPr>
        <p:spPr>
          <a:xfrm>
            <a:off x="868680" y="260604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1800" dirty="0"/>
          </a:p>
        </p:txBody>
      </p:sp>
      <p:sp>
        <p:nvSpPr>
          <p:cNvPr id="7" name="Chip Button"/>
          <p:cNvSpPr/>
          <p:nvPr/>
        </p:nvSpPr>
        <p:spPr>
          <a:xfrm>
            <a:off x="868680" y="3337560"/>
            <a:ext cx="2880360" cy="56692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8" name="Chip texto Button"/>
          <p:cNvSpPr txBox="1"/>
          <p:nvPr/>
        </p:nvSpPr>
        <p:spPr>
          <a:xfrm>
            <a:off x="868680" y="333756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</a:t>
            </a:r>
            <a:endParaRPr lang="en-US" sz="1800" dirty="0"/>
          </a:p>
        </p:txBody>
      </p:sp>
      <p:sp>
        <p:nvSpPr>
          <p:cNvPr id="9" name="Chip TextField"/>
          <p:cNvSpPr/>
          <p:nvPr/>
        </p:nvSpPr>
        <p:spPr>
          <a:xfrm>
            <a:off x="868680" y="4069080"/>
            <a:ext cx="2880360" cy="56692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10" name="Chip texto TextField"/>
          <p:cNvSpPr txBox="1"/>
          <p:nvPr/>
        </p:nvSpPr>
        <p:spPr>
          <a:xfrm>
            <a:off x="868680" y="406908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TextField</a:t>
            </a:r>
            <a:endParaRPr lang="en-US" sz="1800" dirty="0"/>
          </a:p>
        </p:txBody>
      </p:sp>
      <p:sp>
        <p:nvSpPr>
          <p:cNvPr id="11" name="Cartão Layout"/>
          <p:cNvSpPr/>
          <p:nvPr/>
        </p:nvSpPr>
        <p:spPr>
          <a:xfrm>
            <a:off x="4334256" y="1645920"/>
            <a:ext cx="352044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/>
        </p:spPr>
      </p:sp>
      <p:sp>
        <p:nvSpPr>
          <p:cNvPr id="12" name="Cabeçalho Layout"/>
          <p:cNvSpPr txBox="1"/>
          <p:nvPr/>
        </p:nvSpPr>
        <p:spPr>
          <a:xfrm>
            <a:off x="4654296" y="18288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Layout</a:t>
            </a:r>
            <a:endParaRPr lang="en-US" sz="2200" dirty="0"/>
          </a:p>
        </p:txBody>
      </p:sp>
      <p:sp>
        <p:nvSpPr>
          <p:cNvPr id="13" name="Chip Column"/>
          <p:cNvSpPr/>
          <p:nvPr/>
        </p:nvSpPr>
        <p:spPr>
          <a:xfrm>
            <a:off x="4654296" y="2606040"/>
            <a:ext cx="2880360" cy="56692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14" name="Chip texto Column"/>
          <p:cNvSpPr txBox="1"/>
          <p:nvPr/>
        </p:nvSpPr>
        <p:spPr>
          <a:xfrm>
            <a:off x="4654296" y="260604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</a:t>
            </a:r>
            <a:endParaRPr lang="en-US" sz="1800" dirty="0"/>
          </a:p>
        </p:txBody>
      </p:sp>
      <p:sp>
        <p:nvSpPr>
          <p:cNvPr id="15" name="Chip Row"/>
          <p:cNvSpPr/>
          <p:nvPr/>
        </p:nvSpPr>
        <p:spPr>
          <a:xfrm>
            <a:off x="4654296" y="3337560"/>
            <a:ext cx="2880360" cy="56692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16" name="Chip texto Row"/>
          <p:cNvSpPr txBox="1"/>
          <p:nvPr/>
        </p:nvSpPr>
        <p:spPr>
          <a:xfrm>
            <a:off x="4654296" y="333756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</a:t>
            </a:r>
            <a:endParaRPr lang="en-US" sz="1800" dirty="0"/>
          </a:p>
        </p:txBody>
      </p:sp>
      <p:sp>
        <p:nvSpPr>
          <p:cNvPr id="17" name="Chip Box"/>
          <p:cNvSpPr/>
          <p:nvPr/>
        </p:nvSpPr>
        <p:spPr>
          <a:xfrm>
            <a:off x="4654296" y="4069080"/>
            <a:ext cx="2880360" cy="56692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18" name="Chip texto Box"/>
          <p:cNvSpPr txBox="1"/>
          <p:nvPr/>
        </p:nvSpPr>
        <p:spPr>
          <a:xfrm>
            <a:off x="4654296" y="406908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</a:t>
            </a:r>
            <a:endParaRPr lang="en-US" sz="1800" dirty="0"/>
          </a:p>
        </p:txBody>
      </p:sp>
      <p:sp>
        <p:nvSpPr>
          <p:cNvPr id="19" name="Cartão Configuração"/>
          <p:cNvSpPr/>
          <p:nvPr/>
        </p:nvSpPr>
        <p:spPr>
          <a:xfrm>
            <a:off x="8119872" y="1645920"/>
            <a:ext cx="352044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/>
        </p:spPr>
      </p:sp>
      <p:sp>
        <p:nvSpPr>
          <p:cNvPr id="20" name="Cabeçalho Configuração"/>
          <p:cNvSpPr txBox="1"/>
          <p:nvPr/>
        </p:nvSpPr>
        <p:spPr>
          <a:xfrm>
            <a:off x="8439912" y="18288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Configuração</a:t>
            </a:r>
            <a:endParaRPr lang="en-US" sz="2200" dirty="0"/>
          </a:p>
        </p:txBody>
      </p:sp>
      <p:sp>
        <p:nvSpPr>
          <p:cNvPr id="21" name="Chip Modifier"/>
          <p:cNvSpPr/>
          <p:nvPr/>
        </p:nvSpPr>
        <p:spPr>
          <a:xfrm>
            <a:off x="8439912" y="2606040"/>
            <a:ext cx="2880360" cy="56692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2" name="Chip texto Modifier"/>
          <p:cNvSpPr txBox="1"/>
          <p:nvPr/>
        </p:nvSpPr>
        <p:spPr>
          <a:xfrm>
            <a:off x="8439912" y="260604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Modifier</a:t>
            </a:r>
            <a:endParaRPr lang="en-US" sz="1800" dirty="0"/>
          </a:p>
        </p:txBody>
      </p:sp>
      <p:sp>
        <p:nvSpPr>
          <p:cNvPr id="23" name="Síntese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sp>
        <p:nvSpPr>
          <p:cNvPr id="24" name="Síntese texto"/>
          <p:cNvSpPr txBox="1"/>
          <p:nvPr/>
        </p:nvSpPr>
        <p:spPr>
          <a:xfrm>
            <a:off x="868680" y="5349240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Elementos dentro de layouts, configurados com Modifier.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Layouts</a:t>
            </a:r>
            <a:endParaRPr lang="en-US" sz="3400" dirty="0"/>
          </a:p>
        </p:txBody>
      </p:sp>
      <p:sp>
        <p:nvSpPr>
          <p:cNvPr id="3" name="Cartão Row"/>
          <p:cNvSpPr/>
          <p:nvPr/>
        </p:nvSpPr>
        <p:spPr>
          <a:xfrm>
            <a:off x="548640" y="1554480"/>
            <a:ext cx="352044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4" name="Cabeçalho Row"/>
          <p:cNvSpPr txBox="1"/>
          <p:nvPr/>
        </p:nvSpPr>
        <p:spPr>
          <a:xfrm>
            <a:off x="868680" y="16916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</a:t>
            </a:r>
            <a:endParaRPr lang="en-US" sz="2200" dirty="0"/>
          </a:p>
        </p:txBody>
      </p:sp>
      <p:sp>
        <p:nvSpPr>
          <p:cNvPr id="5" name="Contentor Row"/>
          <p:cNvSpPr/>
          <p:nvPr/>
        </p:nvSpPr>
        <p:spPr>
          <a:xfrm>
            <a:off x="845820" y="2926080"/>
            <a:ext cx="2926080" cy="1188720"/>
          </a:xfrm>
          <a:prstGeom prst="roundRect">
            <a:avLst>
              <a:gd name="adj" fmla="val 11538"/>
            </a:avLst>
          </a:prstGeom>
          <a:solidFill>
            <a:schemeClr val="bg1"/>
          </a:solidFill>
          <a:ln w="19050">
            <a:solidFill>
              <a:schemeClr val="accent5"/>
            </a:solidFill>
            <a:prstDash val="dash"/>
          </a:ln>
        </p:spPr>
      </p:sp>
      <p:sp>
        <p:nvSpPr>
          <p:cNvPr id="6" name="Row 1"/>
          <p:cNvSpPr/>
          <p:nvPr/>
        </p:nvSpPr>
        <p:spPr>
          <a:xfrm>
            <a:off x="1074420" y="3154680"/>
            <a:ext cx="731520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/>
        </p:spPr>
      </p:sp>
      <p:sp>
        <p:nvSpPr>
          <p:cNvPr id="7" name="Row 1 n"/>
          <p:cNvSpPr txBox="1"/>
          <p:nvPr/>
        </p:nvSpPr>
        <p:spPr>
          <a:xfrm>
            <a:off x="1074420" y="3154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Row 2"/>
          <p:cNvSpPr/>
          <p:nvPr/>
        </p:nvSpPr>
        <p:spPr>
          <a:xfrm>
            <a:off x="1988820" y="3154680"/>
            <a:ext cx="73152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</p:sp>
      <p:sp>
        <p:nvSpPr>
          <p:cNvPr id="9" name="Row 2 n"/>
          <p:cNvSpPr txBox="1"/>
          <p:nvPr/>
        </p:nvSpPr>
        <p:spPr>
          <a:xfrm>
            <a:off x="1988820" y="3154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Row 3"/>
          <p:cNvSpPr/>
          <p:nvPr/>
        </p:nvSpPr>
        <p:spPr>
          <a:xfrm>
            <a:off x="2903220" y="3154680"/>
            <a:ext cx="731520" cy="731520"/>
          </a:xfrm>
          <a:prstGeom prst="roundRect">
            <a:avLst>
              <a:gd name="adj" fmla="val 12500"/>
            </a:avLst>
          </a:prstGeom>
          <a:solidFill>
            <a:schemeClr val="accent2"/>
          </a:solidFill>
          <a:ln/>
        </p:spPr>
      </p:sp>
      <p:sp>
        <p:nvSpPr>
          <p:cNvPr id="11" name="Row 3 n"/>
          <p:cNvSpPr txBox="1"/>
          <p:nvPr/>
        </p:nvSpPr>
        <p:spPr>
          <a:xfrm>
            <a:off x="2903220" y="3154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2" name="Cartão Column"/>
          <p:cNvSpPr/>
          <p:nvPr/>
        </p:nvSpPr>
        <p:spPr>
          <a:xfrm>
            <a:off x="4334256" y="1554480"/>
            <a:ext cx="352044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13" name="Cabeçalho Column"/>
          <p:cNvSpPr txBox="1"/>
          <p:nvPr/>
        </p:nvSpPr>
        <p:spPr>
          <a:xfrm>
            <a:off x="4654296" y="16916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</a:t>
            </a:r>
            <a:endParaRPr lang="en-US" sz="2200" dirty="0"/>
          </a:p>
        </p:txBody>
      </p:sp>
      <p:sp>
        <p:nvSpPr>
          <p:cNvPr id="14" name="Contentor Column"/>
          <p:cNvSpPr/>
          <p:nvPr/>
        </p:nvSpPr>
        <p:spPr>
          <a:xfrm>
            <a:off x="5591556" y="2331720"/>
            <a:ext cx="1005840" cy="2468880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19050">
            <a:solidFill>
              <a:schemeClr val="accent5"/>
            </a:solidFill>
            <a:prstDash val="dash"/>
          </a:ln>
        </p:spPr>
      </p:sp>
      <p:sp>
        <p:nvSpPr>
          <p:cNvPr id="15" name="Column 1"/>
          <p:cNvSpPr/>
          <p:nvPr/>
        </p:nvSpPr>
        <p:spPr>
          <a:xfrm>
            <a:off x="5751576" y="2468880"/>
            <a:ext cx="685800" cy="6858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6" name="Column 1 n"/>
          <p:cNvSpPr txBox="1"/>
          <p:nvPr/>
        </p:nvSpPr>
        <p:spPr>
          <a:xfrm>
            <a:off x="5751576" y="2468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17" name="Column 2"/>
          <p:cNvSpPr/>
          <p:nvPr/>
        </p:nvSpPr>
        <p:spPr>
          <a:xfrm>
            <a:off x="5751576" y="3246120"/>
            <a:ext cx="685800" cy="68580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18" name="Column 2 n"/>
          <p:cNvSpPr txBox="1"/>
          <p:nvPr/>
        </p:nvSpPr>
        <p:spPr>
          <a:xfrm>
            <a:off x="5751576" y="3246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9" name="Column 3"/>
          <p:cNvSpPr/>
          <p:nvPr/>
        </p:nvSpPr>
        <p:spPr>
          <a:xfrm>
            <a:off x="5751576" y="4023360"/>
            <a:ext cx="685800" cy="68580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</p:sp>
      <p:sp>
        <p:nvSpPr>
          <p:cNvPr id="20" name="Column 3 n"/>
          <p:cNvSpPr txBox="1"/>
          <p:nvPr/>
        </p:nvSpPr>
        <p:spPr>
          <a:xfrm>
            <a:off x="5751576" y="4023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21" name="Cartão Box"/>
          <p:cNvSpPr/>
          <p:nvPr/>
        </p:nvSpPr>
        <p:spPr>
          <a:xfrm>
            <a:off x="8119872" y="1554480"/>
            <a:ext cx="352044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22" name="Cabeçalho Box"/>
          <p:cNvSpPr txBox="1"/>
          <p:nvPr/>
        </p:nvSpPr>
        <p:spPr>
          <a:xfrm>
            <a:off x="8439912" y="16916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</a:t>
            </a:r>
            <a:endParaRPr lang="en-US" sz="2200" dirty="0"/>
          </a:p>
        </p:txBody>
      </p:sp>
      <p:sp>
        <p:nvSpPr>
          <p:cNvPr id="23" name="Contentor Box"/>
          <p:cNvSpPr/>
          <p:nvPr/>
        </p:nvSpPr>
        <p:spPr>
          <a:xfrm>
            <a:off x="8737092" y="2468880"/>
            <a:ext cx="2286000" cy="22860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9050">
            <a:solidFill>
              <a:schemeClr val="accent5"/>
            </a:solidFill>
            <a:prstDash val="dash"/>
          </a:ln>
        </p:spPr>
      </p:sp>
      <p:sp>
        <p:nvSpPr>
          <p:cNvPr id="24" name="Box 1"/>
          <p:cNvSpPr/>
          <p:nvPr/>
        </p:nvSpPr>
        <p:spPr>
          <a:xfrm>
            <a:off x="8965692" y="2697480"/>
            <a:ext cx="91440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25" name="Box 1 n"/>
          <p:cNvSpPr txBox="1"/>
          <p:nvPr/>
        </p:nvSpPr>
        <p:spPr>
          <a:xfrm>
            <a:off x="8965692" y="2697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26" name="Box 2"/>
          <p:cNvSpPr/>
          <p:nvPr/>
        </p:nvSpPr>
        <p:spPr>
          <a:xfrm>
            <a:off x="9422892" y="3154680"/>
            <a:ext cx="914400" cy="914400"/>
          </a:xfrm>
          <a:prstGeom prst="roundRect">
            <a:avLst>
              <a:gd name="adj" fmla="val 10000"/>
            </a:avLst>
          </a:prstGeom>
          <a:solidFill>
            <a:schemeClr val="tx2">
              <a:alpha val="90000"/>
            </a:schemeClr>
          </a:solidFill>
          <a:ln/>
        </p:spPr>
      </p:sp>
      <p:sp>
        <p:nvSpPr>
          <p:cNvPr id="27" name="Box 2 n"/>
          <p:cNvSpPr txBox="1"/>
          <p:nvPr/>
        </p:nvSpPr>
        <p:spPr>
          <a:xfrm>
            <a:off x="9422892" y="3154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28" name="Box 3"/>
          <p:cNvSpPr/>
          <p:nvPr/>
        </p:nvSpPr>
        <p:spPr>
          <a:xfrm>
            <a:off x="9880092" y="3611880"/>
            <a:ext cx="914400" cy="914400"/>
          </a:xfrm>
          <a:prstGeom prst="roundRect">
            <a:avLst>
              <a:gd name="adj" fmla="val 10000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29" name="Box 3 n"/>
          <p:cNvSpPr txBox="1"/>
          <p:nvPr/>
        </p:nvSpPr>
        <p:spPr>
          <a:xfrm>
            <a:off x="9880092" y="3611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30" name="Pergunta"/>
          <p:cNvSpPr/>
          <p:nvPr/>
        </p:nvSpPr>
        <p:spPr>
          <a:xfrm>
            <a:off x="548640" y="5394960"/>
            <a:ext cx="11091672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/>
        </p:spPr>
      </p:sp>
      <p:sp>
        <p:nvSpPr>
          <p:cNvPr id="31" name="Pergunta texto"/>
          <p:cNvSpPr txBox="1"/>
          <p:nvPr/>
        </p:nvSpPr>
        <p:spPr>
          <a:xfrm>
            <a:off x="868680" y="5394960"/>
            <a:ext cx="10451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Mas o que acontece quando os dados que fornecemos a um Composable mudam?</a:t>
            </a:r>
            <a:endParaRPr lang="en-US" sz="18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Estado e Recomposição</a:t>
            </a:r>
            <a:endParaRPr lang="en-US" sz="3400" dirty="0"/>
          </a:p>
        </p:txBody>
      </p:sp>
      <p:sp>
        <p:nvSpPr>
          <p:cNvPr id="3" name="Passo 1"/>
          <p:cNvSpPr/>
          <p:nvPr/>
        </p:nvSpPr>
        <p:spPr>
          <a:xfrm>
            <a:off x="1005840" y="1645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Passo 1 n"/>
          <p:cNvSpPr txBox="1"/>
          <p:nvPr/>
        </p:nvSpPr>
        <p:spPr>
          <a:xfrm>
            <a:off x="10058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Etapa Utilizador"/>
          <p:cNvSpPr/>
          <p:nvPr/>
        </p:nvSpPr>
        <p:spPr>
          <a:xfrm>
            <a:off x="548640" y="2286000"/>
            <a:ext cx="137160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</p:spPr>
      </p:sp>
      <p:sp>
        <p:nvSpPr>
          <p:cNvPr id="6" name="Etapa texto Utilizador"/>
          <p:cNvSpPr txBox="1"/>
          <p:nvPr/>
        </p:nvSpPr>
        <p:spPr>
          <a:xfrm>
            <a:off x="621792" y="2286000"/>
            <a:ext cx="1225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Utilizador</a:t>
            </a:r>
            <a:endParaRPr lang="en-US" sz="1500" dirty="0"/>
          </a:p>
        </p:txBody>
      </p:sp>
      <p:sp>
        <p:nvSpPr>
          <p:cNvPr id="7" name="Seta 1"/>
          <p:cNvSpPr/>
          <p:nvPr/>
        </p:nvSpPr>
        <p:spPr>
          <a:xfrm>
            <a:off x="1920240" y="2880360"/>
            <a:ext cx="24688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Passo 2"/>
          <p:cNvSpPr/>
          <p:nvPr/>
        </p:nvSpPr>
        <p:spPr>
          <a:xfrm>
            <a:off x="2624328" y="1645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asso 2 n"/>
          <p:cNvSpPr txBox="1"/>
          <p:nvPr/>
        </p:nvSpPr>
        <p:spPr>
          <a:xfrm>
            <a:off x="2624328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Etapa Interação"/>
          <p:cNvSpPr/>
          <p:nvPr/>
        </p:nvSpPr>
        <p:spPr>
          <a:xfrm>
            <a:off x="2167128" y="2286000"/>
            <a:ext cx="137160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</p:spPr>
      </p:sp>
      <p:sp>
        <p:nvSpPr>
          <p:cNvPr id="11" name="Etapa texto Interação"/>
          <p:cNvSpPr txBox="1"/>
          <p:nvPr/>
        </p:nvSpPr>
        <p:spPr>
          <a:xfrm>
            <a:off x="2240280" y="2286000"/>
            <a:ext cx="1225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Interação</a:t>
            </a:r>
            <a:endParaRPr lang="en-US" sz="1500" dirty="0"/>
          </a:p>
        </p:txBody>
      </p:sp>
      <p:sp>
        <p:nvSpPr>
          <p:cNvPr id="12" name="Seta 2"/>
          <p:cNvSpPr/>
          <p:nvPr/>
        </p:nvSpPr>
        <p:spPr>
          <a:xfrm>
            <a:off x="3538728" y="2880360"/>
            <a:ext cx="24688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Passo 3"/>
          <p:cNvSpPr/>
          <p:nvPr/>
        </p:nvSpPr>
        <p:spPr>
          <a:xfrm>
            <a:off x="4242816" y="1645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Passo 3 n"/>
          <p:cNvSpPr txBox="1"/>
          <p:nvPr/>
        </p:nvSpPr>
        <p:spPr>
          <a:xfrm>
            <a:off x="4242816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Etapa Evento"/>
          <p:cNvSpPr/>
          <p:nvPr/>
        </p:nvSpPr>
        <p:spPr>
          <a:xfrm>
            <a:off x="3785616" y="2286000"/>
            <a:ext cx="137160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</p:spPr>
      </p:sp>
      <p:sp>
        <p:nvSpPr>
          <p:cNvPr id="16" name="Etapa texto Evento"/>
          <p:cNvSpPr txBox="1"/>
          <p:nvPr/>
        </p:nvSpPr>
        <p:spPr>
          <a:xfrm>
            <a:off x="3858768" y="2286000"/>
            <a:ext cx="1225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Evento</a:t>
            </a:r>
            <a:endParaRPr lang="en-US" sz="1500" dirty="0"/>
          </a:p>
        </p:txBody>
      </p:sp>
      <p:sp>
        <p:nvSpPr>
          <p:cNvPr id="17" name="Seta 3"/>
          <p:cNvSpPr/>
          <p:nvPr/>
        </p:nvSpPr>
        <p:spPr>
          <a:xfrm>
            <a:off x="5157216" y="2880360"/>
            <a:ext cx="24688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8" name="Passo 4"/>
          <p:cNvSpPr/>
          <p:nvPr/>
        </p:nvSpPr>
        <p:spPr>
          <a:xfrm>
            <a:off x="5861304" y="1645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Passo 4 n"/>
          <p:cNvSpPr txBox="1"/>
          <p:nvPr/>
        </p:nvSpPr>
        <p:spPr>
          <a:xfrm>
            <a:off x="5861304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Etapa Event handler"/>
          <p:cNvSpPr/>
          <p:nvPr/>
        </p:nvSpPr>
        <p:spPr>
          <a:xfrm>
            <a:off x="5404104" y="2286000"/>
            <a:ext cx="137160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</p:spPr>
      </p:sp>
      <p:sp>
        <p:nvSpPr>
          <p:cNvPr id="21" name="Etapa texto Event handler"/>
          <p:cNvSpPr txBox="1"/>
          <p:nvPr/>
        </p:nvSpPr>
        <p:spPr>
          <a:xfrm>
            <a:off x="5477256" y="2286000"/>
            <a:ext cx="1225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Event handler</a:t>
            </a:r>
            <a:endParaRPr lang="en-US" sz="1500" dirty="0"/>
          </a:p>
        </p:txBody>
      </p:sp>
      <p:sp>
        <p:nvSpPr>
          <p:cNvPr id="22" name="Seta 4"/>
          <p:cNvSpPr/>
          <p:nvPr/>
        </p:nvSpPr>
        <p:spPr>
          <a:xfrm>
            <a:off x="6775704" y="2880360"/>
            <a:ext cx="24688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3" name="Passo 5"/>
          <p:cNvSpPr/>
          <p:nvPr/>
        </p:nvSpPr>
        <p:spPr>
          <a:xfrm>
            <a:off x="7479792" y="1645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Passo 5 n"/>
          <p:cNvSpPr txBox="1"/>
          <p:nvPr/>
        </p:nvSpPr>
        <p:spPr>
          <a:xfrm>
            <a:off x="7479792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5" name="Etapa Estado altera-se"/>
          <p:cNvSpPr/>
          <p:nvPr/>
        </p:nvSpPr>
        <p:spPr>
          <a:xfrm>
            <a:off x="7022592" y="2286000"/>
            <a:ext cx="137160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</p:spPr>
      </p:sp>
      <p:sp>
        <p:nvSpPr>
          <p:cNvPr id="26" name="Etapa texto Estado altera-se"/>
          <p:cNvSpPr txBox="1"/>
          <p:nvPr/>
        </p:nvSpPr>
        <p:spPr>
          <a:xfrm>
            <a:off x="7095744" y="2286000"/>
            <a:ext cx="1225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Estado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altera-se</a:t>
            </a:r>
            <a:endParaRPr lang="en-US" sz="1500" dirty="0"/>
          </a:p>
        </p:txBody>
      </p:sp>
      <p:sp>
        <p:nvSpPr>
          <p:cNvPr id="27" name="Seta 5"/>
          <p:cNvSpPr/>
          <p:nvPr/>
        </p:nvSpPr>
        <p:spPr>
          <a:xfrm>
            <a:off x="8394192" y="2880360"/>
            <a:ext cx="24688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8" name="Passo 6"/>
          <p:cNvSpPr/>
          <p:nvPr/>
        </p:nvSpPr>
        <p:spPr>
          <a:xfrm>
            <a:off x="9098280" y="1645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Passo 6 n"/>
          <p:cNvSpPr txBox="1"/>
          <p:nvPr/>
        </p:nvSpPr>
        <p:spPr>
          <a:xfrm>
            <a:off x="90982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0" name="Etapa Recomposição"/>
          <p:cNvSpPr/>
          <p:nvPr/>
        </p:nvSpPr>
        <p:spPr>
          <a:xfrm>
            <a:off x="8641080" y="2286000"/>
            <a:ext cx="137160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</p:spPr>
      </p:sp>
      <p:sp>
        <p:nvSpPr>
          <p:cNvPr id="31" name="Etapa texto Recomposição"/>
          <p:cNvSpPr txBox="1"/>
          <p:nvPr/>
        </p:nvSpPr>
        <p:spPr>
          <a:xfrm>
            <a:off x="8714232" y="2286000"/>
            <a:ext cx="1225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Recomposição</a:t>
            </a:r>
            <a:endParaRPr lang="en-US" sz="1500" dirty="0"/>
          </a:p>
        </p:txBody>
      </p:sp>
      <p:sp>
        <p:nvSpPr>
          <p:cNvPr id="32" name="Seta 6"/>
          <p:cNvSpPr/>
          <p:nvPr/>
        </p:nvSpPr>
        <p:spPr>
          <a:xfrm>
            <a:off x="10012680" y="2880360"/>
            <a:ext cx="24688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3" name="Passo 7"/>
          <p:cNvSpPr/>
          <p:nvPr/>
        </p:nvSpPr>
        <p:spPr>
          <a:xfrm>
            <a:off x="10716768" y="1645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Passo 7 n"/>
          <p:cNvSpPr txBox="1"/>
          <p:nvPr/>
        </p:nvSpPr>
        <p:spPr>
          <a:xfrm>
            <a:off x="10716768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35" name="Etapa UI atualizada"/>
          <p:cNvSpPr/>
          <p:nvPr/>
        </p:nvSpPr>
        <p:spPr>
          <a:xfrm>
            <a:off x="10259568" y="2286000"/>
            <a:ext cx="1371600" cy="118872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/>
        </p:spPr>
      </p:sp>
      <p:sp>
        <p:nvSpPr>
          <p:cNvPr id="36" name="Etapa texto UI atualizada"/>
          <p:cNvSpPr txBox="1"/>
          <p:nvPr/>
        </p:nvSpPr>
        <p:spPr>
          <a:xfrm>
            <a:off x="10332720" y="2286000"/>
            <a:ext cx="1225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UI atualizada</a:t>
            </a:r>
            <a:endParaRPr lang="en-US" sz="1500" dirty="0"/>
          </a:p>
        </p:txBody>
      </p:sp>
      <p:sp>
        <p:nvSpPr>
          <p:cNvPr id="37" name="Resumo"/>
          <p:cNvSpPr/>
          <p:nvPr/>
        </p:nvSpPr>
        <p:spPr>
          <a:xfrm>
            <a:off x="548640" y="4114800"/>
            <a:ext cx="1109167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38" name="Resumo texto"/>
          <p:cNvSpPr txBox="1"/>
          <p:nvPr/>
        </p:nvSpPr>
        <p:spPr>
          <a:xfrm>
            <a:off x="1005840" y="4114800"/>
            <a:ext cx="101772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2"/>
                </a:solidFill>
              </a:rPr>
              <a:t>Quando o estado muda, o Compose recompõe as partes necessárias da UI.</a:t>
            </a:r>
            <a:endParaRPr lang="en-US" sz="22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Características do Jetpack Compose</a:t>
            </a:r>
            <a:endParaRPr lang="en-US" sz="3400" dirty="0"/>
          </a:p>
        </p:txBody>
      </p:sp>
      <p:sp>
        <p:nvSpPr>
          <p:cNvPr id="3" name="Linha Declarativo"/>
          <p:cNvSpPr/>
          <p:nvPr/>
        </p:nvSpPr>
        <p:spPr>
          <a:xfrm>
            <a:off x="548640" y="1463040"/>
            <a:ext cx="11091672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4" name="Número Declarativo"/>
          <p:cNvSpPr/>
          <p:nvPr/>
        </p:nvSpPr>
        <p:spPr>
          <a:xfrm>
            <a:off x="777240" y="15773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Número Declarativo n"/>
          <p:cNvSpPr txBox="1"/>
          <p:nvPr/>
        </p:nvSpPr>
        <p:spPr>
          <a:xfrm>
            <a:off x="777240" y="1577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o Declarativo"/>
          <p:cNvSpPr txBox="1"/>
          <p:nvPr/>
        </p:nvSpPr>
        <p:spPr>
          <a:xfrm>
            <a:off x="1463040" y="1463040"/>
            <a:ext cx="9902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chemeClr val="tx2"/>
                </a:solidFill>
              </a:rPr>
              <a:t>Declarativo</a:t>
            </a:r>
            <a:r>
              <a:rPr lang="en-US" sz="1700" dirty="0">
                <a:solidFill>
                  <a:schemeClr val="tx1"/>
                </a:solidFill>
              </a:rPr>
              <a:t> – descrevemos </a:t>
            </a:r>
            <a:r>
              <a:rPr lang="en-US" sz="1700" i="1" dirty="0">
                <a:solidFill>
                  <a:schemeClr val="tx1"/>
                </a:solidFill>
              </a:rPr>
              <a:t>o que</a:t>
            </a:r>
            <a:r>
              <a:rPr lang="en-US" sz="1700" dirty="0">
                <a:solidFill>
                  <a:schemeClr val="tx1"/>
                </a:solidFill>
              </a:rPr>
              <a:t> a UI deve apresentar</a:t>
            </a:r>
            <a:endParaRPr lang="en-US" sz="1700" dirty="0"/>
          </a:p>
        </p:txBody>
      </p:sp>
      <p:sp>
        <p:nvSpPr>
          <p:cNvPr id="7" name="Linha Reativo"/>
          <p:cNvSpPr/>
          <p:nvPr/>
        </p:nvSpPr>
        <p:spPr>
          <a:xfrm>
            <a:off x="548640" y="2258568"/>
            <a:ext cx="11091672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8" name="Número Reativo"/>
          <p:cNvSpPr/>
          <p:nvPr/>
        </p:nvSpPr>
        <p:spPr>
          <a:xfrm>
            <a:off x="777240" y="23728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Número Reativo n"/>
          <p:cNvSpPr txBox="1"/>
          <p:nvPr/>
        </p:nvSpPr>
        <p:spPr>
          <a:xfrm>
            <a:off x="777240" y="23728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o Reativo"/>
          <p:cNvSpPr txBox="1"/>
          <p:nvPr/>
        </p:nvSpPr>
        <p:spPr>
          <a:xfrm>
            <a:off x="1463040" y="2258568"/>
            <a:ext cx="9902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chemeClr val="tx2"/>
                </a:solidFill>
              </a:rPr>
              <a:t>Reativo</a:t>
            </a:r>
            <a:r>
              <a:rPr lang="en-US" sz="1700" dirty="0">
                <a:solidFill>
                  <a:schemeClr val="tx1"/>
                </a:solidFill>
              </a:rPr>
              <a:t> – a UI reage às alterações de estado</a:t>
            </a:r>
            <a:endParaRPr lang="en-US" sz="1700" dirty="0"/>
          </a:p>
        </p:txBody>
      </p:sp>
      <p:sp>
        <p:nvSpPr>
          <p:cNvPr id="11" name="Linha Composicional"/>
          <p:cNvSpPr/>
          <p:nvPr/>
        </p:nvSpPr>
        <p:spPr>
          <a:xfrm>
            <a:off x="548640" y="3054096"/>
            <a:ext cx="11091672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2" name="Número Composicional"/>
          <p:cNvSpPr/>
          <p:nvPr/>
        </p:nvSpPr>
        <p:spPr>
          <a:xfrm>
            <a:off x="777240" y="316839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Número Composicional n"/>
          <p:cNvSpPr txBox="1"/>
          <p:nvPr/>
        </p:nvSpPr>
        <p:spPr>
          <a:xfrm>
            <a:off x="777240" y="31683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o Composicional"/>
          <p:cNvSpPr txBox="1"/>
          <p:nvPr/>
        </p:nvSpPr>
        <p:spPr>
          <a:xfrm>
            <a:off x="1463040" y="3054096"/>
            <a:ext cx="9902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chemeClr val="tx2"/>
                </a:solidFill>
              </a:rPr>
              <a:t>Composicional</a:t>
            </a:r>
            <a:r>
              <a:rPr lang="en-US" sz="1700" dirty="0">
                <a:solidFill>
                  <a:schemeClr val="tx1"/>
                </a:solidFill>
              </a:rPr>
              <a:t> – construímos a UI através de funções </a:t>
            </a:r>
            <a:r>
              <a:rPr lang="en-US" sz="16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@Composable</a:t>
            </a:r>
            <a:endParaRPr lang="en-US" sz="1700" dirty="0"/>
          </a:p>
        </p:txBody>
      </p:sp>
      <p:sp>
        <p:nvSpPr>
          <p:cNvPr id="15" name="Linha Kotlin-first"/>
          <p:cNvSpPr/>
          <p:nvPr/>
        </p:nvSpPr>
        <p:spPr>
          <a:xfrm>
            <a:off x="548640" y="3849624"/>
            <a:ext cx="11091672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6" name="Número Kotlin-first"/>
          <p:cNvSpPr/>
          <p:nvPr/>
        </p:nvSpPr>
        <p:spPr>
          <a:xfrm>
            <a:off x="777240" y="396392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Número Kotlin-first n"/>
          <p:cNvSpPr txBox="1"/>
          <p:nvPr/>
        </p:nvSpPr>
        <p:spPr>
          <a:xfrm>
            <a:off x="777240" y="39639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o Kotlin-first"/>
          <p:cNvSpPr txBox="1"/>
          <p:nvPr/>
        </p:nvSpPr>
        <p:spPr>
          <a:xfrm>
            <a:off x="1463040" y="3849624"/>
            <a:ext cx="9902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chemeClr val="tx2"/>
                </a:solidFill>
              </a:rPr>
              <a:t>Kotlin-first</a:t>
            </a:r>
            <a:r>
              <a:rPr lang="en-US" sz="1700" dirty="0">
                <a:solidFill>
                  <a:schemeClr val="tx1"/>
                </a:solidFill>
              </a:rPr>
              <a:t> – a interface é construída diretamente em Kotlin</a:t>
            </a:r>
            <a:endParaRPr lang="en-US" sz="1700" dirty="0"/>
          </a:p>
        </p:txBody>
      </p:sp>
      <p:sp>
        <p:nvSpPr>
          <p:cNvPr id="19" name="Linha Menos código"/>
          <p:cNvSpPr/>
          <p:nvPr/>
        </p:nvSpPr>
        <p:spPr>
          <a:xfrm>
            <a:off x="548640" y="4645152"/>
            <a:ext cx="11091672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20" name="Número Menos código"/>
          <p:cNvSpPr/>
          <p:nvPr/>
        </p:nvSpPr>
        <p:spPr>
          <a:xfrm>
            <a:off x="777240" y="475945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Número Menos código n"/>
          <p:cNvSpPr txBox="1"/>
          <p:nvPr/>
        </p:nvSpPr>
        <p:spPr>
          <a:xfrm>
            <a:off x="777240" y="47594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o Menos código"/>
          <p:cNvSpPr txBox="1"/>
          <p:nvPr/>
        </p:nvSpPr>
        <p:spPr>
          <a:xfrm>
            <a:off x="1463040" y="4645152"/>
            <a:ext cx="9902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chemeClr val="tx2"/>
                </a:solidFill>
              </a:rPr>
              <a:t>Menos código</a:t>
            </a:r>
            <a:r>
              <a:rPr lang="en-US" sz="1700" dirty="0">
                <a:solidFill>
                  <a:schemeClr val="tx1"/>
                </a:solidFill>
              </a:rPr>
              <a:t> – reduz a necessidade de código repetitivo</a:t>
            </a:r>
            <a:endParaRPr lang="en-US" sz="1700" dirty="0"/>
          </a:p>
        </p:txBody>
      </p:sp>
      <p:sp>
        <p:nvSpPr>
          <p:cNvPr id="23" name="Lema"/>
          <p:cNvSpPr/>
          <p:nvPr/>
        </p:nvSpPr>
        <p:spPr>
          <a:xfrm>
            <a:off x="548640" y="5577840"/>
            <a:ext cx="11091672" cy="640080"/>
          </a:xfrm>
          <a:prstGeom prst="roundRect">
            <a:avLst>
              <a:gd name="adj" fmla="val 17143"/>
            </a:avLst>
          </a:prstGeom>
          <a:solidFill>
            <a:schemeClr val="tx2"/>
          </a:solidFill>
          <a:ln/>
        </p:spPr>
      </p:sp>
      <p:sp>
        <p:nvSpPr>
          <p:cNvPr id="24" name="Lema texto"/>
          <p:cNvSpPr txBox="1"/>
          <p:nvPr/>
        </p:nvSpPr>
        <p:spPr>
          <a:xfrm>
            <a:off x="868680" y="5577840"/>
            <a:ext cx="10451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“Less code. Intuitive. Accelerate development. Powerful.”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92024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chemeClr val="tx2"/>
                </a:solidFill>
              </a:rPr>
              <a:t>Interfaces adaptativas + UX</a:t>
            </a:r>
            <a:endParaRPr lang="en-US" sz="4800" dirty="0"/>
          </a:p>
        </p:txBody>
      </p:sp>
      <p:sp>
        <p:nvSpPr>
          <p:cNvPr id="3" name="txt1"/>
          <p:cNvSpPr txBox="1"/>
          <p:nvPr/>
        </p:nvSpPr>
        <p:spPr>
          <a:xfrm>
            <a:off x="822960" y="40233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</a:rPr>
              <a:t>Pessoa 3 · Android: XML vs Jetpack Compose</a:t>
            </a:r>
            <a:endParaRPr lang="en-US" sz="2000" dirty="0"/>
          </a:p>
        </p:txBody>
      </p:sp>
      <p:sp>
        <p:nvSpPr>
          <p:cNvPr id="4" name="circulo-fundo"/>
          <p:cNvSpPr/>
          <p:nvPr/>
        </p:nvSpPr>
        <p:spPr>
          <a:xfrm>
            <a:off x="7498080" y="914400"/>
            <a:ext cx="4206240" cy="420624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5" name="circulo-verde"/>
          <p:cNvSpPr/>
          <p:nvPr/>
        </p:nvSpPr>
        <p:spPr>
          <a:xfrm>
            <a:off x="6858000" y="4480560"/>
            <a:ext cx="1280160" cy="12801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circulo-escuro"/>
          <p:cNvSpPr/>
          <p:nvPr/>
        </p:nvSpPr>
        <p:spPr>
          <a:xfrm>
            <a:off x="10881360" y="64008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" name="card2"/>
          <p:cNvSpPr/>
          <p:nvPr/>
        </p:nvSpPr>
        <p:spPr>
          <a:xfrm>
            <a:off x="8138160" y="2011680"/>
            <a:ext cx="2926080" cy="6400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8" name="txt3"/>
          <p:cNvSpPr txBox="1"/>
          <p:nvPr/>
        </p:nvSpPr>
        <p:spPr>
          <a:xfrm>
            <a:off x="8138160" y="2011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Adaptação</a:t>
            </a:r>
            <a:endParaRPr lang="en-US" sz="1600" dirty="0"/>
          </a:p>
        </p:txBody>
      </p:sp>
      <p:sp>
        <p:nvSpPr>
          <p:cNvPr id="9" name="card4"/>
          <p:cNvSpPr/>
          <p:nvPr/>
        </p:nvSpPr>
        <p:spPr>
          <a:xfrm>
            <a:off x="8138160" y="2834640"/>
            <a:ext cx="2926080" cy="6400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10" name="txt5"/>
          <p:cNvSpPr txBox="1"/>
          <p:nvPr/>
        </p:nvSpPr>
        <p:spPr>
          <a:xfrm>
            <a:off x="8138160" y="2834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Material Design 3</a:t>
            </a:r>
            <a:endParaRPr lang="en-US" sz="1600" dirty="0"/>
          </a:p>
        </p:txBody>
      </p:sp>
      <p:sp>
        <p:nvSpPr>
          <p:cNvPr id="11" name="card6"/>
          <p:cNvSpPr/>
          <p:nvPr/>
        </p:nvSpPr>
        <p:spPr>
          <a:xfrm>
            <a:off x="8138160" y="3657600"/>
            <a:ext cx="2926080" cy="6400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12" name="txt7"/>
          <p:cNvSpPr txBox="1"/>
          <p:nvPr/>
        </p:nvSpPr>
        <p:spPr>
          <a:xfrm>
            <a:off x="8138160" y="36576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Acessibilidade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57846436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Interfaces adaptativas + UX</a:t>
            </a:r>
            <a:endParaRPr lang="en-US" sz="3200" dirty="0"/>
          </a:p>
        </p:txBody>
      </p:sp>
      <p:sp>
        <p:nvSpPr>
          <p:cNvPr id="3" name="txt8"/>
          <p:cNvSpPr txBox="1"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Como garantir que uma interface continua adequada quando as condições de utilização mudam?</a:t>
            </a:r>
            <a:endParaRPr lang="en-US" sz="1800" dirty="0"/>
          </a:p>
        </p:txBody>
      </p:sp>
      <p:pic>
        <p:nvPicPr>
          <p:cNvPr id="4" name="Image 0" descr="Construção da interface, adaptação e experiência do utilizado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3120"/>
            <a:ext cx="6766560" cy="3383280"/>
          </a:xfrm>
          <a:prstGeom prst="rect">
            <a:avLst/>
          </a:prstGeom>
        </p:spPr>
      </p:pic>
      <p:sp>
        <p:nvSpPr>
          <p:cNvPr id="5" name="txt9"/>
          <p:cNvSpPr txBox="1"/>
          <p:nvPr/>
        </p:nvSpPr>
        <p:spPr>
          <a:xfrm>
            <a:off x="548640" y="56692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UX — User Experience: a experiência de quem usa a aplicação.</a:t>
            </a:r>
            <a:endParaRPr lang="en-US" sz="1400" dirty="0"/>
          </a:p>
        </p:txBody>
      </p:sp>
      <p:sp>
        <p:nvSpPr>
          <p:cNvPr id="6" name="card10"/>
          <p:cNvSpPr/>
          <p:nvPr/>
        </p:nvSpPr>
        <p:spPr>
          <a:xfrm>
            <a:off x="7680960" y="2103120"/>
            <a:ext cx="39319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7" name="num11"/>
          <p:cNvSpPr/>
          <p:nvPr/>
        </p:nvSpPr>
        <p:spPr>
          <a:xfrm>
            <a:off x="7863840" y="23545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xt12"/>
          <p:cNvSpPr txBox="1"/>
          <p:nvPr/>
        </p:nvSpPr>
        <p:spPr>
          <a:xfrm>
            <a:off x="7863840" y="23545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xt13"/>
          <p:cNvSpPr txBox="1"/>
          <p:nvPr/>
        </p:nvSpPr>
        <p:spPr>
          <a:xfrm>
            <a:off x="8595360" y="21031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Facilidade de utilização</a:t>
            </a:r>
            <a:endParaRPr lang="en-US" sz="1600" dirty="0"/>
          </a:p>
        </p:txBody>
      </p:sp>
      <p:sp>
        <p:nvSpPr>
          <p:cNvPr id="10" name="card14"/>
          <p:cNvSpPr/>
          <p:nvPr/>
        </p:nvSpPr>
        <p:spPr>
          <a:xfrm>
            <a:off x="7680960" y="3291840"/>
            <a:ext cx="39319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1" name="num15"/>
          <p:cNvSpPr/>
          <p:nvPr/>
        </p:nvSpPr>
        <p:spPr>
          <a:xfrm>
            <a:off x="7863840" y="35433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xt16"/>
          <p:cNvSpPr txBox="1"/>
          <p:nvPr/>
        </p:nvSpPr>
        <p:spPr>
          <a:xfrm>
            <a:off x="7863840" y="35433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xt17"/>
          <p:cNvSpPr txBox="1"/>
          <p:nvPr/>
        </p:nvSpPr>
        <p:spPr>
          <a:xfrm>
            <a:off x="8595360" y="329184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Compreensão da interface</a:t>
            </a:r>
            <a:endParaRPr lang="en-US" sz="1600" dirty="0"/>
          </a:p>
        </p:txBody>
      </p:sp>
      <p:sp>
        <p:nvSpPr>
          <p:cNvPr id="14" name="card18"/>
          <p:cNvSpPr/>
          <p:nvPr/>
        </p:nvSpPr>
        <p:spPr>
          <a:xfrm>
            <a:off x="7680960" y="4480560"/>
            <a:ext cx="39319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5" name="num19"/>
          <p:cNvSpPr/>
          <p:nvPr/>
        </p:nvSpPr>
        <p:spPr>
          <a:xfrm>
            <a:off x="7863840" y="47320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xt20"/>
          <p:cNvSpPr txBox="1"/>
          <p:nvPr/>
        </p:nvSpPr>
        <p:spPr>
          <a:xfrm>
            <a:off x="7863840" y="47320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xt21"/>
          <p:cNvSpPr txBox="1"/>
          <p:nvPr/>
        </p:nvSpPr>
        <p:spPr>
          <a:xfrm>
            <a:off x="8595360" y="44805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Resposta às ações do utilizador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6B6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794870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O que é uma interface adaptativa?</a:t>
            </a:r>
            <a:endParaRPr lang="en-US" sz="3200" dirty="0"/>
          </a:p>
        </p:txBody>
      </p:sp>
      <p:sp>
        <p:nvSpPr>
          <p:cNvPr id="3" name="txt22"/>
          <p:cNvSpPr txBox="1"/>
          <p:nvPr/>
        </p:nvSpPr>
        <p:spPr>
          <a:xfrm>
            <a:off x="548640" y="1508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Ajusta a sua apresentação às características do dispositivo onde está a ser executada.</a:t>
            </a:r>
            <a:endParaRPr lang="en-US" sz="1800" dirty="0"/>
          </a:p>
        </p:txBody>
      </p:sp>
      <p:sp>
        <p:nvSpPr>
          <p:cNvPr id="4" name="card23"/>
          <p:cNvSpPr/>
          <p:nvPr/>
        </p:nvSpPr>
        <p:spPr>
          <a:xfrm>
            <a:off x="548640" y="2651760"/>
            <a:ext cx="53949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5" name="num24"/>
          <p:cNvSpPr/>
          <p:nvPr/>
        </p:nvSpPr>
        <p:spPr>
          <a:xfrm>
            <a:off x="731520" y="2926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xt25"/>
          <p:cNvSpPr txBox="1"/>
          <p:nvPr/>
        </p:nvSpPr>
        <p:spPr>
          <a:xfrm>
            <a:off x="73152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xt26"/>
          <p:cNvSpPr txBox="1"/>
          <p:nvPr/>
        </p:nvSpPr>
        <p:spPr>
          <a:xfrm>
            <a:off x="1463040" y="265176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Tamanho do ecrã</a:t>
            </a:r>
            <a:endParaRPr lang="en-US" sz="1500" dirty="0"/>
          </a:p>
        </p:txBody>
      </p:sp>
      <p:sp>
        <p:nvSpPr>
          <p:cNvPr id="8" name="card27"/>
          <p:cNvSpPr/>
          <p:nvPr/>
        </p:nvSpPr>
        <p:spPr>
          <a:xfrm>
            <a:off x="6217920" y="2651760"/>
            <a:ext cx="53949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9" name="num28"/>
          <p:cNvSpPr/>
          <p:nvPr/>
        </p:nvSpPr>
        <p:spPr>
          <a:xfrm>
            <a:off x="6400800" y="2926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xt29"/>
          <p:cNvSpPr txBox="1"/>
          <p:nvPr/>
        </p:nvSpPr>
        <p:spPr>
          <a:xfrm>
            <a:off x="640080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xt30"/>
          <p:cNvSpPr txBox="1"/>
          <p:nvPr/>
        </p:nvSpPr>
        <p:spPr>
          <a:xfrm>
            <a:off x="7132320" y="265176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Orientação</a:t>
            </a:r>
            <a:endParaRPr lang="en-US" sz="1500" dirty="0"/>
          </a:p>
        </p:txBody>
      </p:sp>
      <p:sp>
        <p:nvSpPr>
          <p:cNvPr id="12" name="card31"/>
          <p:cNvSpPr/>
          <p:nvPr/>
        </p:nvSpPr>
        <p:spPr>
          <a:xfrm>
            <a:off x="548640" y="3840480"/>
            <a:ext cx="53949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3" name="num32"/>
          <p:cNvSpPr/>
          <p:nvPr/>
        </p:nvSpPr>
        <p:spPr>
          <a:xfrm>
            <a:off x="731520" y="41148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xt33"/>
          <p:cNvSpPr txBox="1"/>
          <p:nvPr/>
        </p:nvSpPr>
        <p:spPr>
          <a:xfrm>
            <a:off x="73152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xt34"/>
          <p:cNvSpPr txBox="1"/>
          <p:nvPr/>
        </p:nvSpPr>
        <p:spPr>
          <a:xfrm>
            <a:off x="1463040" y="384048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Espaço disponível</a:t>
            </a:r>
            <a:endParaRPr lang="en-US" sz="1500" dirty="0"/>
          </a:p>
        </p:txBody>
      </p:sp>
      <p:sp>
        <p:nvSpPr>
          <p:cNvPr id="16" name="card35"/>
          <p:cNvSpPr/>
          <p:nvPr/>
        </p:nvSpPr>
        <p:spPr>
          <a:xfrm>
            <a:off x="6217920" y="3840480"/>
            <a:ext cx="53949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7" name="num36"/>
          <p:cNvSpPr/>
          <p:nvPr/>
        </p:nvSpPr>
        <p:spPr>
          <a:xfrm>
            <a:off x="6400800" y="41148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xt37"/>
          <p:cNvSpPr txBox="1"/>
          <p:nvPr/>
        </p:nvSpPr>
        <p:spPr>
          <a:xfrm>
            <a:off x="640080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xt38"/>
          <p:cNvSpPr txBox="1"/>
          <p:nvPr/>
        </p:nvSpPr>
        <p:spPr>
          <a:xfrm>
            <a:off x="7132320" y="384048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Diferentes dispositivos</a:t>
            </a:r>
            <a:endParaRPr lang="en-US" sz="1500" dirty="0"/>
          </a:p>
        </p:txBody>
      </p:sp>
      <p:sp>
        <p:nvSpPr>
          <p:cNvPr id="22" name="card41"/>
          <p:cNvSpPr/>
          <p:nvPr/>
        </p:nvSpPr>
        <p:spPr>
          <a:xfrm>
            <a:off x="548640" y="5257800"/>
            <a:ext cx="11064240" cy="6858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sp>
        <p:nvSpPr>
          <p:cNvPr id="23" name="txt42"/>
          <p:cNvSpPr txBox="1"/>
          <p:nvPr/>
        </p:nvSpPr>
        <p:spPr>
          <a:xfrm>
            <a:off x="822960" y="5257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A interface deve adaptar-se ao contexto de utilização.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6B6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952629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Diferentes tamanhos e orientações</a:t>
            </a:r>
            <a:endParaRPr lang="en-US" sz="3200" dirty="0"/>
          </a:p>
        </p:txBody>
      </p:sp>
      <p:sp>
        <p:nvSpPr>
          <p:cNvPr id="4" name="card43"/>
          <p:cNvSpPr/>
          <p:nvPr/>
        </p:nvSpPr>
        <p:spPr>
          <a:xfrm>
            <a:off x="9509760" y="502920"/>
            <a:ext cx="2103120" cy="4114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5" name="txt44"/>
          <p:cNvSpPr txBox="1"/>
          <p:nvPr/>
        </p:nvSpPr>
        <p:spPr>
          <a:xfrm>
            <a:off x="9509760" y="5029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▶ DEMO: orientação</a:t>
            </a:r>
            <a:endParaRPr lang="en-US" sz="1200" dirty="0"/>
          </a:p>
        </p:txBody>
      </p:sp>
      <p:pic>
        <p:nvPicPr>
          <p:cNvPr id="6" name="Image 0" descr="Formulário em vertical e horizontal, mal adaptad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4937760" cy="2770632"/>
          </a:xfrm>
          <a:prstGeom prst="rect">
            <a:avLst/>
          </a:prstGeom>
        </p:spPr>
      </p:pic>
      <p:sp>
        <p:nvSpPr>
          <p:cNvPr id="7" name="seta"/>
          <p:cNvSpPr/>
          <p:nvPr/>
        </p:nvSpPr>
        <p:spPr>
          <a:xfrm>
            <a:off x="5669280" y="2651760"/>
            <a:ext cx="1005840" cy="731520"/>
          </a:xfrm>
          <a:prstGeom prst="rightArrow">
            <a:avLst/>
          </a:prstGeom>
          <a:solidFill>
            <a:schemeClr val="accent1"/>
          </a:solidFill>
          <a:ln/>
        </p:spPr>
      </p:sp>
      <p:pic>
        <p:nvPicPr>
          <p:cNvPr id="8" name="Image 1" descr="Formulário em horizontal bem adaptad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645920"/>
            <a:ext cx="4206240" cy="2752344"/>
          </a:xfrm>
          <a:prstGeom prst="rect">
            <a:avLst/>
          </a:prstGeom>
        </p:spPr>
      </p:pic>
      <p:sp>
        <p:nvSpPr>
          <p:cNvPr id="9" name="card45"/>
          <p:cNvSpPr/>
          <p:nvPr/>
        </p:nvSpPr>
        <p:spPr>
          <a:xfrm>
            <a:off x="1737360" y="4572000"/>
            <a:ext cx="256032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0" name="txt46"/>
          <p:cNvSpPr txBox="1"/>
          <p:nvPr/>
        </p:nvSpPr>
        <p:spPr>
          <a:xfrm>
            <a:off x="1737360" y="4572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Só pensado para vertical</a:t>
            </a:r>
            <a:endParaRPr lang="en-US" sz="1300" dirty="0"/>
          </a:p>
        </p:txBody>
      </p:sp>
      <p:sp>
        <p:nvSpPr>
          <p:cNvPr id="11" name="card47"/>
          <p:cNvSpPr/>
          <p:nvPr/>
        </p:nvSpPr>
        <p:spPr>
          <a:xfrm>
            <a:off x="7772400" y="4572000"/>
            <a:ext cx="25603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2" name="txt48"/>
          <p:cNvSpPr txBox="1"/>
          <p:nvPr/>
        </p:nvSpPr>
        <p:spPr>
          <a:xfrm>
            <a:off x="7772400" y="4572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Adaptado ao espaço</a:t>
            </a:r>
            <a:endParaRPr lang="en-US" sz="1300" dirty="0"/>
          </a:p>
        </p:txBody>
      </p:sp>
      <p:sp>
        <p:nvSpPr>
          <p:cNvPr id="13" name="card49"/>
          <p:cNvSpPr/>
          <p:nvPr/>
        </p:nvSpPr>
        <p:spPr>
          <a:xfrm>
            <a:off x="548640" y="5166360"/>
            <a:ext cx="356616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4" name="num50"/>
          <p:cNvSpPr/>
          <p:nvPr/>
        </p:nvSpPr>
        <p:spPr>
          <a:xfrm>
            <a:off x="731520" y="54178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xt51"/>
          <p:cNvSpPr txBox="1"/>
          <p:nvPr/>
        </p:nvSpPr>
        <p:spPr>
          <a:xfrm>
            <a:off x="731520" y="54178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6" name="txt52"/>
          <p:cNvSpPr txBox="1"/>
          <p:nvPr/>
        </p:nvSpPr>
        <p:spPr>
          <a:xfrm>
            <a:off x="1463040" y="51663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Não pensar apenas em Portrait.</a:t>
            </a:r>
            <a:endParaRPr lang="en-US" sz="1500" dirty="0"/>
          </a:p>
        </p:txBody>
      </p:sp>
      <p:sp>
        <p:nvSpPr>
          <p:cNvPr id="17" name="card53"/>
          <p:cNvSpPr/>
          <p:nvPr/>
        </p:nvSpPr>
        <p:spPr>
          <a:xfrm>
            <a:off x="4297680" y="5166360"/>
            <a:ext cx="356616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8" name="num54"/>
          <p:cNvSpPr/>
          <p:nvPr/>
        </p:nvSpPr>
        <p:spPr>
          <a:xfrm>
            <a:off x="4480560" y="54178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xt55"/>
          <p:cNvSpPr txBox="1"/>
          <p:nvPr/>
        </p:nvSpPr>
        <p:spPr>
          <a:xfrm>
            <a:off x="4480560" y="54178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0" name="txt56"/>
          <p:cNvSpPr txBox="1"/>
          <p:nvPr/>
        </p:nvSpPr>
        <p:spPr>
          <a:xfrm>
            <a:off x="5212080" y="51663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Elementos organizados e utilizáveis.</a:t>
            </a:r>
            <a:endParaRPr lang="en-US" sz="1500" dirty="0"/>
          </a:p>
        </p:txBody>
      </p:sp>
      <p:sp>
        <p:nvSpPr>
          <p:cNvPr id="21" name="card57"/>
          <p:cNvSpPr/>
          <p:nvPr/>
        </p:nvSpPr>
        <p:spPr>
          <a:xfrm>
            <a:off x="8046720" y="5166360"/>
            <a:ext cx="356616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22" name="num58"/>
          <p:cNvSpPr/>
          <p:nvPr/>
        </p:nvSpPr>
        <p:spPr>
          <a:xfrm>
            <a:off x="8229600" y="54178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xt59"/>
          <p:cNvSpPr txBox="1"/>
          <p:nvPr/>
        </p:nvSpPr>
        <p:spPr>
          <a:xfrm>
            <a:off x="8229600" y="54178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4" name="txt60"/>
          <p:cNvSpPr txBox="1"/>
          <p:nvPr/>
        </p:nvSpPr>
        <p:spPr>
          <a:xfrm>
            <a:off x="8961120" y="51663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Vale para XML e para Compose.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6B6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337329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Material Design 3</a:t>
            </a:r>
            <a:endParaRPr lang="en-US" sz="3200" dirty="0"/>
          </a:p>
        </p:txBody>
      </p:sp>
      <p:sp>
        <p:nvSpPr>
          <p:cNvPr id="4" name="card61"/>
          <p:cNvSpPr/>
          <p:nvPr/>
        </p:nvSpPr>
        <p:spPr>
          <a:xfrm>
            <a:off x="9509760" y="502920"/>
            <a:ext cx="2103120" cy="4114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5" name="txt62"/>
          <p:cNvSpPr txBox="1"/>
          <p:nvPr/>
        </p:nvSpPr>
        <p:spPr>
          <a:xfrm>
            <a:off x="9509760" y="5029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▶ DEMO: XML</a:t>
            </a:r>
            <a:endParaRPr lang="en-US" sz="1200" dirty="0"/>
          </a:p>
        </p:txBody>
      </p:sp>
      <p:sp>
        <p:nvSpPr>
          <p:cNvPr id="6" name="txt63"/>
          <p:cNvSpPr txBox="1"/>
          <p:nvPr/>
        </p:nvSpPr>
        <p:spPr>
          <a:xfrm>
            <a:off x="548640" y="150876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Sistema de design da Google para interfaces Android. Define:</a:t>
            </a:r>
            <a:endParaRPr lang="en-US" sz="1800" dirty="0"/>
          </a:p>
        </p:txBody>
      </p:sp>
      <p:sp>
        <p:nvSpPr>
          <p:cNvPr id="7" name="card64"/>
          <p:cNvSpPr/>
          <p:nvPr/>
        </p:nvSpPr>
        <p:spPr>
          <a:xfrm>
            <a:off x="548640" y="2468880"/>
            <a:ext cx="18288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8" name="txt65"/>
          <p:cNvSpPr txBox="1"/>
          <p:nvPr/>
        </p:nvSpPr>
        <p:spPr>
          <a:xfrm>
            <a:off x="548640" y="24688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Componentes</a:t>
            </a:r>
            <a:endParaRPr lang="en-US" sz="1600" dirty="0"/>
          </a:p>
        </p:txBody>
      </p:sp>
      <p:sp>
        <p:nvSpPr>
          <p:cNvPr id="9" name="card66"/>
          <p:cNvSpPr/>
          <p:nvPr/>
        </p:nvSpPr>
        <p:spPr>
          <a:xfrm>
            <a:off x="2560320" y="2468880"/>
            <a:ext cx="18288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0" name="txt67"/>
          <p:cNvSpPr txBox="1"/>
          <p:nvPr/>
        </p:nvSpPr>
        <p:spPr>
          <a:xfrm>
            <a:off x="2560320" y="24688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Cores</a:t>
            </a:r>
            <a:endParaRPr lang="en-US" sz="1600" dirty="0"/>
          </a:p>
        </p:txBody>
      </p:sp>
      <p:sp>
        <p:nvSpPr>
          <p:cNvPr id="11" name="card68"/>
          <p:cNvSpPr/>
          <p:nvPr/>
        </p:nvSpPr>
        <p:spPr>
          <a:xfrm>
            <a:off x="4572000" y="2468880"/>
            <a:ext cx="18288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2" name="txt69"/>
          <p:cNvSpPr txBox="1"/>
          <p:nvPr/>
        </p:nvSpPr>
        <p:spPr>
          <a:xfrm>
            <a:off x="4572000" y="24688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Tipografia</a:t>
            </a:r>
            <a:endParaRPr lang="en-US" sz="1600" dirty="0"/>
          </a:p>
        </p:txBody>
      </p:sp>
      <p:sp>
        <p:nvSpPr>
          <p:cNvPr id="13" name="card70"/>
          <p:cNvSpPr/>
          <p:nvPr/>
        </p:nvSpPr>
        <p:spPr>
          <a:xfrm>
            <a:off x="548640" y="3657600"/>
            <a:ext cx="18288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4" name="txt71"/>
          <p:cNvSpPr txBox="1"/>
          <p:nvPr/>
        </p:nvSpPr>
        <p:spPr>
          <a:xfrm>
            <a:off x="548640" y="36576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Formas</a:t>
            </a:r>
            <a:endParaRPr lang="en-US" sz="1600" dirty="0"/>
          </a:p>
        </p:txBody>
      </p:sp>
      <p:sp>
        <p:nvSpPr>
          <p:cNvPr id="15" name="card72"/>
          <p:cNvSpPr/>
          <p:nvPr/>
        </p:nvSpPr>
        <p:spPr>
          <a:xfrm>
            <a:off x="2560320" y="3657600"/>
            <a:ext cx="18288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6" name="txt73"/>
          <p:cNvSpPr txBox="1"/>
          <p:nvPr/>
        </p:nvSpPr>
        <p:spPr>
          <a:xfrm>
            <a:off x="2560320" y="36576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Espaçamento</a:t>
            </a:r>
            <a:endParaRPr lang="en-US" sz="1600" dirty="0"/>
          </a:p>
        </p:txBody>
      </p:sp>
      <p:sp>
        <p:nvSpPr>
          <p:cNvPr id="17" name="card74"/>
          <p:cNvSpPr/>
          <p:nvPr/>
        </p:nvSpPr>
        <p:spPr>
          <a:xfrm>
            <a:off x="4572000" y="3657600"/>
            <a:ext cx="18288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8" name="txt75"/>
          <p:cNvSpPr txBox="1"/>
          <p:nvPr/>
        </p:nvSpPr>
        <p:spPr>
          <a:xfrm>
            <a:off x="4572000" y="36576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Interação</a:t>
            </a:r>
            <a:endParaRPr lang="en-US" sz="1600" dirty="0"/>
          </a:p>
        </p:txBody>
      </p:sp>
      <p:sp>
        <p:nvSpPr>
          <p:cNvPr id="19" name="txt76"/>
          <p:cNvSpPr txBox="1"/>
          <p:nvPr/>
        </p:nvSpPr>
        <p:spPr>
          <a:xfrm>
            <a:off x="548640" y="49377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Em vez de desenhar um botão, usamos um componente Material que já tem comportamento próprio e segue o tema.</a:t>
            </a:r>
            <a:endParaRPr lang="en-US" sz="1400" dirty="0"/>
          </a:p>
        </p:txBody>
      </p:sp>
      <p:sp>
        <p:nvSpPr>
          <p:cNvPr id="20" name="card77"/>
          <p:cNvSpPr/>
          <p:nvPr/>
        </p:nvSpPr>
        <p:spPr>
          <a:xfrm>
            <a:off x="6766560" y="2468880"/>
            <a:ext cx="484632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1" name="txt78"/>
          <p:cNvSpPr txBox="1"/>
          <p:nvPr/>
        </p:nvSpPr>
        <p:spPr>
          <a:xfrm>
            <a:off x="7040880" y="269748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Do básico ao Material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EditText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→ TextInputLayout + TextInputEditText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Button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→ MaterialButton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6B6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22363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Material Design 3 no Compose</a:t>
            </a:r>
            <a:endParaRPr lang="en-US" sz="3200" dirty="0"/>
          </a:p>
        </p:txBody>
      </p:sp>
      <p:sp>
        <p:nvSpPr>
          <p:cNvPr id="4" name="card81"/>
          <p:cNvSpPr/>
          <p:nvPr/>
        </p:nvSpPr>
        <p:spPr>
          <a:xfrm>
            <a:off x="9509760" y="502920"/>
            <a:ext cx="2103120" cy="4114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5" name="txt82"/>
          <p:cNvSpPr txBox="1"/>
          <p:nvPr/>
        </p:nvSpPr>
        <p:spPr>
          <a:xfrm>
            <a:off x="9509760" y="5029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▶ DEMO: Compose</a:t>
            </a:r>
            <a:endParaRPr lang="en-US" sz="1200" dirty="0"/>
          </a:p>
        </p:txBody>
      </p:sp>
      <p:sp>
        <p:nvSpPr>
          <p:cNvPr id="6" name="card83"/>
          <p:cNvSpPr/>
          <p:nvPr/>
        </p:nvSpPr>
        <p:spPr>
          <a:xfrm>
            <a:off x="548640" y="1508760"/>
            <a:ext cx="521208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7" name="txt84"/>
          <p:cNvSpPr txBox="1"/>
          <p:nvPr/>
        </p:nvSpPr>
        <p:spPr>
          <a:xfrm>
            <a:off x="822960" y="169164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XML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Substituímos as views do layout por componentes Material.</a:t>
            </a:r>
            <a:endParaRPr lang="en-US" sz="1600" dirty="0"/>
          </a:p>
        </p:txBody>
      </p:sp>
      <p:sp>
        <p:nvSpPr>
          <p:cNvPr id="8" name="card85"/>
          <p:cNvSpPr/>
          <p:nvPr/>
        </p:nvSpPr>
        <p:spPr>
          <a:xfrm>
            <a:off x="548640" y="3063240"/>
            <a:ext cx="521208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9" name="txt86"/>
          <p:cNvSpPr txBox="1"/>
          <p:nvPr/>
        </p:nvSpPr>
        <p:spPr>
          <a:xfrm>
            <a:off x="822960" y="324612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Compose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Usamos diretamente os Composables do Material 3.</a:t>
            </a:r>
            <a:endParaRPr lang="en-US" sz="1600" dirty="0"/>
          </a:p>
        </p:txBody>
      </p:sp>
      <p:sp>
        <p:nvSpPr>
          <p:cNvPr id="10" name="card87"/>
          <p:cNvSpPr/>
          <p:nvPr/>
        </p:nvSpPr>
        <p:spPr>
          <a:xfrm>
            <a:off x="548640" y="4754880"/>
            <a:ext cx="1645920" cy="6400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11" name="txt88"/>
          <p:cNvSpPr txBox="1"/>
          <p:nvPr/>
        </p:nvSpPr>
        <p:spPr>
          <a:xfrm>
            <a:off x="548640" y="47548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TextField</a:t>
            </a:r>
            <a:endParaRPr lang="en-US" sz="1400" dirty="0"/>
          </a:p>
        </p:txBody>
      </p:sp>
      <p:sp>
        <p:nvSpPr>
          <p:cNvPr id="12" name="card89"/>
          <p:cNvSpPr/>
          <p:nvPr/>
        </p:nvSpPr>
        <p:spPr>
          <a:xfrm>
            <a:off x="2331720" y="4754880"/>
            <a:ext cx="1645920" cy="6400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13" name="txt90"/>
          <p:cNvSpPr txBox="1"/>
          <p:nvPr/>
        </p:nvSpPr>
        <p:spPr>
          <a:xfrm>
            <a:off x="2331720" y="47548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Button</a:t>
            </a:r>
            <a:endParaRPr lang="en-US" sz="1400" dirty="0"/>
          </a:p>
        </p:txBody>
      </p:sp>
      <p:sp>
        <p:nvSpPr>
          <p:cNvPr id="14" name="card91"/>
          <p:cNvSpPr/>
          <p:nvPr/>
        </p:nvSpPr>
        <p:spPr>
          <a:xfrm>
            <a:off x="4114800" y="4754880"/>
            <a:ext cx="1645920" cy="6400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15" name="txt92"/>
          <p:cNvSpPr txBox="1"/>
          <p:nvPr/>
        </p:nvSpPr>
        <p:spPr>
          <a:xfrm>
            <a:off x="4114800" y="47548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MaterialTheme</a:t>
            </a:r>
            <a:endParaRPr lang="en-US" sz="1400" dirty="0"/>
          </a:p>
        </p:txBody>
      </p:sp>
      <p:sp>
        <p:nvSpPr>
          <p:cNvPr id="16" name="card93"/>
          <p:cNvSpPr/>
          <p:nvPr/>
        </p:nvSpPr>
        <p:spPr>
          <a:xfrm>
            <a:off x="6217920" y="1508760"/>
            <a:ext cx="5394960" cy="3886200"/>
          </a:xfrm>
          <a:prstGeom prst="roundRect">
            <a:avLst>
              <a:gd name="adj" fmla="val 2824"/>
            </a:avLst>
          </a:prstGeom>
          <a:solidFill>
            <a:schemeClr val="bg2"/>
          </a:solidFill>
          <a:ln/>
        </p:spPr>
      </p:sp>
      <p:sp>
        <p:nvSpPr>
          <p:cNvPr id="17" name="txt94"/>
          <p:cNvSpPr txBox="1"/>
          <p:nvPr/>
        </p:nvSpPr>
        <p:spPr>
          <a:xfrm>
            <a:off x="6492240" y="1508760"/>
            <a:ext cx="484632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pt-PT" sz="2000" b="1" dirty="0">
                <a:solidFill>
                  <a:schemeClr val="tx2"/>
                </a:solidFill>
              </a:rPr>
              <a:t>MaterialTheme</a:t>
            </a:r>
            <a:endParaRPr lang="pt-PT" sz="2000" dirty="0"/>
          </a:p>
          <a:p>
            <a:pPr marL="0" indent="0">
              <a:spcAft>
                <a:spcPts val="600"/>
              </a:spcAft>
              <a:buNone/>
            </a:pPr>
            <a:r>
              <a:rPr lang="pt-PT" sz="1600" dirty="0">
                <a:solidFill>
                  <a:schemeClr val="tx1"/>
                </a:solidFill>
              </a:rPr>
              <a:t>Define e centraliza a aparência:</a:t>
            </a:r>
            <a:endParaRPr lang="pt-PT" sz="1600" dirty="0"/>
          </a:p>
          <a:p>
            <a:pPr marL="0" indent="0">
              <a:spcAft>
                <a:spcPts val="400"/>
              </a:spcAft>
              <a:buNone/>
            </a:pPr>
            <a:r>
              <a:rPr lang="pt-PT" sz="1800" b="1" dirty="0">
                <a:solidFill>
                  <a:schemeClr val="accent1"/>
                </a:solidFill>
              </a:rPr>
              <a:t>Cores</a:t>
            </a:r>
            <a:endParaRPr lang="pt-PT" sz="1800" dirty="0"/>
          </a:p>
          <a:p>
            <a:pPr marL="0" indent="0">
              <a:spcAft>
                <a:spcPts val="400"/>
              </a:spcAft>
              <a:buNone/>
            </a:pPr>
            <a:r>
              <a:rPr lang="pt-PT" sz="1800" b="1" dirty="0">
                <a:solidFill>
                  <a:schemeClr val="accent1"/>
                </a:solidFill>
              </a:rPr>
              <a:t>Tipografia</a:t>
            </a:r>
            <a:endParaRPr lang="pt-PT" sz="1800" dirty="0"/>
          </a:p>
          <a:p>
            <a:pPr marL="0" indent="0">
              <a:spcAft>
                <a:spcPts val="800"/>
              </a:spcAft>
              <a:buNone/>
            </a:pPr>
            <a:r>
              <a:rPr lang="pt-PT" sz="1800" b="1" dirty="0">
                <a:solidFill>
                  <a:schemeClr val="accent1"/>
                </a:solidFill>
              </a:rPr>
              <a:t>Formas</a:t>
            </a:r>
            <a:endParaRPr lang="pt-PT" sz="1800" dirty="0"/>
          </a:p>
          <a:p>
            <a:pPr marL="0" indent="0">
              <a:spcAft>
                <a:spcPts val="0"/>
              </a:spcAft>
              <a:buNone/>
            </a:pPr>
            <a:r>
              <a:rPr lang="pt-PT" sz="1400" dirty="0">
                <a:solidFill>
                  <a:schemeClr val="accent5"/>
                </a:solidFill>
              </a:rPr>
              <a:t>Uma aparência comum para toda a aplicação, sem configurar cada componente.</a:t>
            </a:r>
            <a:endParaRPr lang="pt-PT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6B6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013984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Light e Dark Mode</a:t>
            </a:r>
            <a:endParaRPr lang="en-US" sz="3200" dirty="0"/>
          </a:p>
        </p:txBody>
      </p:sp>
      <p:sp>
        <p:nvSpPr>
          <p:cNvPr id="4" name="card95"/>
          <p:cNvSpPr/>
          <p:nvPr/>
        </p:nvSpPr>
        <p:spPr>
          <a:xfrm>
            <a:off x="9509760" y="502920"/>
            <a:ext cx="2103120" cy="4114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5" name="txt96"/>
          <p:cNvSpPr txBox="1"/>
          <p:nvPr/>
        </p:nvSpPr>
        <p:spPr>
          <a:xfrm>
            <a:off x="9509760" y="5029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▶ DEMO: Light → Dark</a:t>
            </a:r>
            <a:endParaRPr lang="en-US" sz="1200" dirty="0"/>
          </a:p>
        </p:txBody>
      </p:sp>
      <p:sp>
        <p:nvSpPr>
          <p:cNvPr id="6" name="card97"/>
          <p:cNvSpPr/>
          <p:nvPr/>
        </p:nvSpPr>
        <p:spPr>
          <a:xfrm>
            <a:off x="548640" y="1554480"/>
            <a:ext cx="548640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7" name="num98"/>
          <p:cNvSpPr/>
          <p:nvPr/>
        </p:nvSpPr>
        <p:spPr>
          <a:xfrm>
            <a:off x="731520" y="17145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xt99"/>
          <p:cNvSpPr txBox="1"/>
          <p:nvPr/>
        </p:nvSpPr>
        <p:spPr>
          <a:xfrm>
            <a:off x="731520" y="17145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xt100"/>
          <p:cNvSpPr txBox="1"/>
          <p:nvPr/>
        </p:nvSpPr>
        <p:spPr>
          <a:xfrm>
            <a:off x="1463040" y="155448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Às preferências do utilizador</a:t>
            </a:r>
            <a:endParaRPr lang="en-US" sz="1700" dirty="0"/>
          </a:p>
        </p:txBody>
      </p:sp>
      <p:sp>
        <p:nvSpPr>
          <p:cNvPr id="10" name="card101"/>
          <p:cNvSpPr/>
          <p:nvPr/>
        </p:nvSpPr>
        <p:spPr>
          <a:xfrm>
            <a:off x="548640" y="2468880"/>
            <a:ext cx="548640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1" name="num102"/>
          <p:cNvSpPr/>
          <p:nvPr/>
        </p:nvSpPr>
        <p:spPr>
          <a:xfrm>
            <a:off x="731520" y="26289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xt103"/>
          <p:cNvSpPr txBox="1"/>
          <p:nvPr/>
        </p:nvSpPr>
        <p:spPr>
          <a:xfrm>
            <a:off x="731520" y="26289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xt104"/>
          <p:cNvSpPr txBox="1"/>
          <p:nvPr/>
        </p:nvSpPr>
        <p:spPr>
          <a:xfrm>
            <a:off x="1463040" y="246888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Às condições de utilização</a:t>
            </a:r>
            <a:endParaRPr lang="en-US" sz="1700" dirty="0"/>
          </a:p>
        </p:txBody>
      </p:sp>
      <p:sp>
        <p:nvSpPr>
          <p:cNvPr id="14" name="card105"/>
          <p:cNvSpPr/>
          <p:nvPr/>
        </p:nvSpPr>
        <p:spPr>
          <a:xfrm>
            <a:off x="548640" y="3383280"/>
            <a:ext cx="548640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5" name="num106"/>
          <p:cNvSpPr/>
          <p:nvPr/>
        </p:nvSpPr>
        <p:spPr>
          <a:xfrm>
            <a:off x="731520" y="35433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xt107"/>
          <p:cNvSpPr txBox="1"/>
          <p:nvPr/>
        </p:nvSpPr>
        <p:spPr>
          <a:xfrm>
            <a:off x="731520" y="35433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xt108"/>
          <p:cNvSpPr txBox="1"/>
          <p:nvPr/>
        </p:nvSpPr>
        <p:spPr>
          <a:xfrm>
            <a:off x="1463040" y="338328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Ao modo claro ou escuro</a:t>
            </a:r>
            <a:endParaRPr lang="en-US" sz="1700" dirty="0"/>
          </a:p>
        </p:txBody>
      </p:sp>
      <p:sp>
        <p:nvSpPr>
          <p:cNvPr id="18" name="card109"/>
          <p:cNvSpPr/>
          <p:nvPr/>
        </p:nvSpPr>
        <p:spPr>
          <a:xfrm>
            <a:off x="548640" y="4434840"/>
            <a:ext cx="54864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9" name="txt110"/>
          <p:cNvSpPr txBox="1"/>
          <p:nvPr/>
        </p:nvSpPr>
        <p:spPr>
          <a:xfrm>
            <a:off x="822960" y="461772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Vantagem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Um único sistema de temas adapta a aparência da aplicação sem alterar cada componente.</a:t>
            </a:r>
            <a:endParaRPr lang="en-US" sz="1600" dirty="0"/>
          </a:p>
        </p:txBody>
      </p:sp>
      <p:sp>
        <p:nvSpPr>
          <p:cNvPr id="20" name="card111"/>
          <p:cNvSpPr/>
          <p:nvPr/>
        </p:nvSpPr>
        <p:spPr>
          <a:xfrm>
            <a:off x="6766560" y="1554480"/>
            <a:ext cx="4846320" cy="64008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</p:sp>
      <p:sp>
        <p:nvSpPr>
          <p:cNvPr id="21" name="txt112"/>
          <p:cNvSpPr txBox="1"/>
          <p:nvPr/>
        </p:nvSpPr>
        <p:spPr>
          <a:xfrm>
            <a:off x="6766560" y="15544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Theme.Material3.DayNight.NoActionBar</a:t>
            </a:r>
            <a:endParaRPr lang="en-US" sz="1500" dirty="0"/>
          </a:p>
        </p:txBody>
      </p:sp>
      <p:sp>
        <p:nvSpPr>
          <p:cNvPr id="22" name="liga113"/>
          <p:cNvSpPr/>
          <p:nvPr/>
        </p:nvSpPr>
        <p:spPr>
          <a:xfrm>
            <a:off x="9052560" y="2194560"/>
            <a:ext cx="0" cy="27432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23" name="liga114"/>
          <p:cNvSpPr/>
          <p:nvPr/>
        </p:nvSpPr>
        <p:spPr>
          <a:xfrm>
            <a:off x="7818120" y="2468880"/>
            <a:ext cx="283464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24" name="liga115"/>
          <p:cNvSpPr/>
          <p:nvPr/>
        </p:nvSpPr>
        <p:spPr>
          <a:xfrm>
            <a:off x="7818120" y="2468880"/>
            <a:ext cx="0" cy="27432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25" name="liga116"/>
          <p:cNvSpPr/>
          <p:nvPr/>
        </p:nvSpPr>
        <p:spPr>
          <a:xfrm>
            <a:off x="10652760" y="2468880"/>
            <a:ext cx="0" cy="27432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26" name="card117"/>
          <p:cNvSpPr/>
          <p:nvPr/>
        </p:nvSpPr>
        <p:spPr>
          <a:xfrm>
            <a:off x="6766560" y="2743200"/>
            <a:ext cx="233172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27" name="txt118"/>
          <p:cNvSpPr txBox="1"/>
          <p:nvPr/>
        </p:nvSpPr>
        <p:spPr>
          <a:xfrm>
            <a:off x="6766560" y="274320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Light Mode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values/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themes.xml</a:t>
            </a:r>
            <a:endParaRPr lang="en-US" sz="1600" dirty="0"/>
          </a:p>
        </p:txBody>
      </p:sp>
      <p:sp>
        <p:nvSpPr>
          <p:cNvPr id="28" name="card119"/>
          <p:cNvSpPr/>
          <p:nvPr/>
        </p:nvSpPr>
        <p:spPr>
          <a:xfrm>
            <a:off x="9281160" y="2743200"/>
            <a:ext cx="2331720" cy="109728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29" name="txt120"/>
          <p:cNvSpPr txBox="1"/>
          <p:nvPr/>
        </p:nvSpPr>
        <p:spPr>
          <a:xfrm>
            <a:off x="9281160" y="274320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Dark Mode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values-night/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themes.xml</a:t>
            </a:r>
            <a:endParaRPr lang="en-US" sz="1600" dirty="0"/>
          </a:p>
        </p:txBody>
      </p:sp>
      <p:sp>
        <p:nvSpPr>
          <p:cNvPr id="30" name="txt121"/>
          <p:cNvSpPr txBox="1"/>
          <p:nvPr/>
        </p:nvSpPr>
        <p:spPr>
          <a:xfrm>
            <a:off x="6766560" y="39319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0"/>
              </a:spcAft>
              <a:buNone/>
            </a:pPr>
            <a:r>
              <a:rPr lang="pt-PT" sz="1400" dirty="0">
                <a:solidFill>
                  <a:schemeClr val="accent5"/>
                </a:solidFill>
              </a:rPr>
              <a:t>XML: o Android usa values no modo normal e values-night quando o modo escuro está ativo.</a:t>
            </a:r>
            <a:endParaRPr lang="pt-PT" sz="1400" dirty="0"/>
          </a:p>
        </p:txBody>
      </p:sp>
      <p:sp>
        <p:nvSpPr>
          <p:cNvPr id="31" name="card_compose"/>
          <p:cNvSpPr/>
          <p:nvPr/>
        </p:nvSpPr>
        <p:spPr>
          <a:xfrm>
            <a:off x="6766560" y="4572000"/>
            <a:ext cx="4846320" cy="15087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32" name="txt_compose"/>
          <p:cNvSpPr txBox="1"/>
          <p:nvPr/>
        </p:nvSpPr>
        <p:spPr>
          <a:xfrm>
            <a:off x="7040880" y="470916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pt-PT" sz="1400" b="1" dirty="0">
                <a:solidFill>
                  <a:schemeClr val="accent6"/>
                </a:solidFill>
              </a:rPr>
              <a:t>Compose</a:t>
            </a:r>
            <a:endParaRPr lang="pt-PT" sz="1400" dirty="0"/>
          </a:p>
          <a:p>
            <a:pPr marL="0" indent="0">
              <a:spcAft>
                <a:spcPts val="0"/>
              </a:spcAft>
              <a:buNone/>
            </a:pPr>
            <a:r>
              <a:rPr lang="pt-PT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 colorScheme =</a:t>
            </a:r>
            <a:endParaRPr lang="pt-PT" sz="1000" dirty="0"/>
          </a:p>
          <a:p>
            <a:pPr marL="0" indent="0">
              <a:spcAft>
                <a:spcPts val="0"/>
              </a:spcAft>
              <a:buNone/>
            </a:pPr>
            <a:r>
              <a:rPr lang="pt-PT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(darkMode) darkColorScheme()</a:t>
            </a:r>
            <a:endParaRPr lang="pt-PT" sz="1000" dirty="0"/>
          </a:p>
          <a:p>
            <a:pPr marL="0" indent="0">
              <a:spcAft>
                <a:spcPts val="0"/>
              </a:spcAft>
              <a:buNone/>
            </a:pPr>
            <a:r>
              <a:rPr lang="pt-PT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lightColorScheme()</a:t>
            </a:r>
            <a:endParaRPr lang="pt-PT" sz="1000" dirty="0"/>
          </a:p>
          <a:p>
            <a:pPr marL="0" indent="0">
              <a:spcAft>
                <a:spcPts val="0"/>
              </a:spcAft>
              <a:buNone/>
            </a:pPr>
            <a:r>
              <a:rPr lang="pt-PT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MaterialTheme(colorScheme = colorScheme) { ... }</a:t>
            </a:r>
            <a:endParaRPr lang="pt-PT" sz="1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6B6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224914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Acessibilidade</a:t>
            </a:r>
            <a:endParaRPr lang="en-US" sz="3200" dirty="0"/>
          </a:p>
        </p:txBody>
      </p:sp>
      <p:sp>
        <p:nvSpPr>
          <p:cNvPr id="4" name="card122"/>
          <p:cNvSpPr/>
          <p:nvPr/>
        </p:nvSpPr>
        <p:spPr>
          <a:xfrm>
            <a:off x="9509760" y="502920"/>
            <a:ext cx="2103120" cy="4114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5" name="txt123"/>
          <p:cNvSpPr txBox="1"/>
          <p:nvPr/>
        </p:nvSpPr>
        <p:spPr>
          <a:xfrm>
            <a:off x="9509760" y="5029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▶ DEMO: acessibilidade</a:t>
            </a:r>
            <a:endParaRPr lang="en-US" sz="1200" dirty="0"/>
          </a:p>
        </p:txBody>
      </p:sp>
      <p:sp>
        <p:nvSpPr>
          <p:cNvPr id="6" name="card124"/>
          <p:cNvSpPr/>
          <p:nvPr/>
        </p:nvSpPr>
        <p:spPr>
          <a:xfrm>
            <a:off x="548640" y="1508760"/>
            <a:ext cx="576072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7" name="num125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xt126"/>
          <p:cNvSpPr txBox="1"/>
          <p:nvPr/>
        </p:nvSpPr>
        <p:spPr>
          <a:xfrm>
            <a:off x="73152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xt127"/>
          <p:cNvSpPr txBox="1"/>
          <p:nvPr/>
        </p:nvSpPr>
        <p:spPr>
          <a:xfrm>
            <a:off x="1463040" y="15087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Texto legível</a:t>
            </a:r>
            <a:endParaRPr lang="en-US" sz="1600" dirty="0"/>
          </a:p>
        </p:txBody>
      </p:sp>
      <p:sp>
        <p:nvSpPr>
          <p:cNvPr id="10" name="card128"/>
          <p:cNvSpPr/>
          <p:nvPr/>
        </p:nvSpPr>
        <p:spPr>
          <a:xfrm>
            <a:off x="548640" y="2286000"/>
            <a:ext cx="576072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1" name="num129"/>
          <p:cNvSpPr/>
          <p:nvPr/>
        </p:nvSpPr>
        <p:spPr>
          <a:xfrm>
            <a:off x="731520" y="23774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xt130"/>
          <p:cNvSpPr txBox="1"/>
          <p:nvPr/>
        </p:nvSpPr>
        <p:spPr>
          <a:xfrm>
            <a:off x="73152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xt131"/>
          <p:cNvSpPr txBox="1"/>
          <p:nvPr/>
        </p:nvSpPr>
        <p:spPr>
          <a:xfrm>
            <a:off x="1463040" y="22860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Contraste adequado</a:t>
            </a:r>
            <a:endParaRPr lang="en-US" sz="1600" dirty="0"/>
          </a:p>
        </p:txBody>
      </p:sp>
      <p:sp>
        <p:nvSpPr>
          <p:cNvPr id="14" name="card132"/>
          <p:cNvSpPr/>
          <p:nvPr/>
        </p:nvSpPr>
        <p:spPr>
          <a:xfrm>
            <a:off x="548640" y="3063240"/>
            <a:ext cx="576072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5" name="num133"/>
          <p:cNvSpPr/>
          <p:nvPr/>
        </p:nvSpPr>
        <p:spPr>
          <a:xfrm>
            <a:off x="731520" y="31546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xt134"/>
          <p:cNvSpPr txBox="1"/>
          <p:nvPr/>
        </p:nvSpPr>
        <p:spPr>
          <a:xfrm>
            <a:off x="7315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xt135"/>
          <p:cNvSpPr txBox="1"/>
          <p:nvPr/>
        </p:nvSpPr>
        <p:spPr>
          <a:xfrm>
            <a:off x="1463040" y="306324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Elementos interativos com tamanho adequado</a:t>
            </a:r>
            <a:endParaRPr lang="en-US" sz="1600" dirty="0"/>
          </a:p>
        </p:txBody>
      </p:sp>
      <p:sp>
        <p:nvSpPr>
          <p:cNvPr id="18" name="card136"/>
          <p:cNvSpPr/>
          <p:nvPr/>
        </p:nvSpPr>
        <p:spPr>
          <a:xfrm>
            <a:off x="548640" y="3840480"/>
            <a:ext cx="576072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9" name="num137"/>
          <p:cNvSpPr/>
          <p:nvPr/>
        </p:nvSpPr>
        <p:spPr>
          <a:xfrm>
            <a:off x="731520" y="3931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xt138"/>
          <p:cNvSpPr txBox="1"/>
          <p:nvPr/>
        </p:nvSpPr>
        <p:spPr>
          <a:xfrm>
            <a:off x="73152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xt139"/>
          <p:cNvSpPr txBox="1"/>
          <p:nvPr/>
        </p:nvSpPr>
        <p:spPr>
          <a:xfrm>
            <a:off x="1463040" y="38404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Identificação clara dos elementos</a:t>
            </a:r>
            <a:endParaRPr lang="en-US" sz="1600" dirty="0"/>
          </a:p>
        </p:txBody>
      </p:sp>
      <p:sp>
        <p:nvSpPr>
          <p:cNvPr id="26" name="card144"/>
          <p:cNvSpPr/>
          <p:nvPr/>
        </p:nvSpPr>
        <p:spPr>
          <a:xfrm>
            <a:off x="6675120" y="1508760"/>
            <a:ext cx="49377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27" name="txt145"/>
          <p:cNvSpPr txBox="1"/>
          <p:nvPr/>
        </p:nvSpPr>
        <p:spPr>
          <a:xfrm>
            <a:off x="6949440" y="169164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6"/>
                </a:solidFill>
              </a:rPr>
              <a:t>XML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android:contentDescription="…"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android:text="@string/btn_submit"</a:t>
            </a:r>
            <a:endParaRPr lang="en-US" sz="1600" dirty="0"/>
          </a:p>
        </p:txBody>
      </p:sp>
      <p:sp>
        <p:nvSpPr>
          <p:cNvPr id="28" name="card146"/>
          <p:cNvSpPr/>
          <p:nvPr/>
        </p:nvSpPr>
        <p:spPr>
          <a:xfrm>
            <a:off x="6675120" y="3063240"/>
            <a:ext cx="49377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29" name="txt147"/>
          <p:cNvSpPr txBox="1"/>
          <p:nvPr/>
        </p:nvSpPr>
        <p:spPr>
          <a:xfrm>
            <a:off x="6949440" y="324612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pt-PT" sz="1600" b="1" dirty="0">
                <a:solidFill>
                  <a:schemeClr val="accent6"/>
                </a:solidFill>
              </a:rPr>
              <a:t>Compose</a:t>
            </a:r>
            <a:endParaRPr lang="pt-PT" sz="1600" dirty="0"/>
          </a:p>
          <a:p>
            <a:pPr marL="0" indent="0">
              <a:spcAft>
                <a:spcPts val="400"/>
              </a:spcAft>
              <a:buNone/>
            </a:pPr>
            <a:r>
              <a:rPr lang="pt-PT" sz="1300" dirty="0">
                <a:solidFill>
                  <a:schemeClr val="tx1"/>
                </a:solidFill>
              </a:rPr>
              <a:t>TextField e Button já têm semântica própria</a:t>
            </a:r>
            <a:endParaRPr lang="pt-PT" sz="1300" dirty="0"/>
          </a:p>
          <a:p>
            <a:pPr marL="0" indent="0">
              <a:spcAft>
                <a:spcPts val="400"/>
              </a:spcAft>
              <a:buNone/>
            </a:pPr>
            <a:r>
              <a:rPr lang="pt-PT" sz="1300" dirty="0">
                <a:solidFill>
                  <a:schemeClr val="tx1"/>
                </a:solidFill>
              </a:rPr>
              <a:t>Labels claros e texto legível</a:t>
            </a:r>
            <a:endParaRPr lang="pt-PT" sz="1300" dirty="0"/>
          </a:p>
          <a:p>
            <a:pPr marL="0" indent="0">
              <a:spcAft>
                <a:spcPts val="400"/>
              </a:spcAft>
              <a:buNone/>
            </a:pPr>
            <a:r>
              <a:rPr lang="pt-PT" sz="1300" dirty="0">
                <a:solidFill>
                  <a:schemeClr val="tx1"/>
                </a:solidFill>
              </a:rPr>
              <a:t>Contraste adequado e tamanho apropriado</a:t>
            </a:r>
            <a:endParaRPr lang="pt-PT" sz="1300" dirty="0"/>
          </a:p>
        </p:txBody>
      </p:sp>
      <p:sp>
        <p:nvSpPr>
          <p:cNvPr id="30" name="card148"/>
          <p:cNvSpPr/>
          <p:nvPr/>
        </p:nvSpPr>
        <p:spPr>
          <a:xfrm>
            <a:off x="548640" y="5669280"/>
            <a:ext cx="11064240" cy="6858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sp>
        <p:nvSpPr>
          <p:cNvPr id="31" name="txt149"/>
          <p:cNvSpPr txBox="1"/>
          <p:nvPr/>
        </p:nvSpPr>
        <p:spPr>
          <a:xfrm>
            <a:off x="822960" y="56692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Acessibilidade não é apenas uma questão visual.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6B6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897737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Vantagens, limitações e erros frequentes</a:t>
            </a:r>
            <a:endParaRPr lang="en-US" sz="3200" dirty="0"/>
          </a:p>
        </p:txBody>
      </p:sp>
      <p:sp>
        <p:nvSpPr>
          <p:cNvPr id="3" name="card175"/>
          <p:cNvSpPr/>
          <p:nvPr/>
        </p:nvSpPr>
        <p:spPr>
          <a:xfrm>
            <a:off x="548640" y="1508760"/>
            <a:ext cx="3566160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/>
        </p:spPr>
      </p:sp>
      <p:sp>
        <p:nvSpPr>
          <p:cNvPr id="4" name="txt176"/>
          <p:cNvSpPr txBox="1"/>
          <p:nvPr/>
        </p:nvSpPr>
        <p:spPr>
          <a:xfrm>
            <a:off x="548640" y="15087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Vantagens</a:t>
            </a:r>
            <a:endParaRPr lang="en-US" sz="2000" dirty="0"/>
          </a:p>
        </p:txBody>
      </p:sp>
      <p:sp>
        <p:nvSpPr>
          <p:cNvPr id="5" name="card177"/>
          <p:cNvSpPr/>
          <p:nvPr/>
        </p:nvSpPr>
        <p:spPr>
          <a:xfrm>
            <a:off x="548640" y="2377440"/>
            <a:ext cx="356616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6" name="txt178"/>
          <p:cNvSpPr txBox="1"/>
          <p:nvPr/>
        </p:nvSpPr>
        <p:spPr>
          <a:xfrm>
            <a:off x="822960" y="260604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Adaptação a vários ecrãs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Consistência com Material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Suporte a Light/Dark Mode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Mais acessibilidade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Feedback claro ao utilizador</a:t>
            </a:r>
            <a:endParaRPr lang="en-US" sz="1700" dirty="0"/>
          </a:p>
        </p:txBody>
      </p:sp>
      <p:sp>
        <p:nvSpPr>
          <p:cNvPr id="7" name="card179"/>
          <p:cNvSpPr/>
          <p:nvPr/>
        </p:nvSpPr>
        <p:spPr>
          <a:xfrm>
            <a:off x="4297680" y="1508760"/>
            <a:ext cx="3566160" cy="731520"/>
          </a:xfrm>
          <a:prstGeom prst="roundRect">
            <a:avLst>
              <a:gd name="adj" fmla="val 15000"/>
            </a:avLst>
          </a:prstGeom>
          <a:solidFill>
            <a:schemeClr val="accent6"/>
          </a:solidFill>
          <a:ln/>
        </p:spPr>
      </p:sp>
      <p:sp>
        <p:nvSpPr>
          <p:cNvPr id="8" name="txt180"/>
          <p:cNvSpPr txBox="1"/>
          <p:nvPr/>
        </p:nvSpPr>
        <p:spPr>
          <a:xfrm>
            <a:off x="4297680" y="15087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Dificuldades</a:t>
            </a:r>
            <a:endParaRPr lang="en-US" sz="2000" dirty="0"/>
          </a:p>
        </p:txBody>
      </p:sp>
      <p:sp>
        <p:nvSpPr>
          <p:cNvPr id="9" name="card181"/>
          <p:cNvSpPr/>
          <p:nvPr/>
        </p:nvSpPr>
        <p:spPr>
          <a:xfrm>
            <a:off x="4297680" y="2377440"/>
            <a:ext cx="356616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0" name="txt182"/>
          <p:cNvSpPr txBox="1"/>
          <p:nvPr/>
        </p:nvSpPr>
        <p:spPr>
          <a:xfrm>
            <a:off x="4572000" y="260604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Testar tamanhos e orientações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Código adicional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Atenção ao contraste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Validação mais complexa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XML e Compose diferem</a:t>
            </a:r>
            <a:endParaRPr lang="en-US" sz="1700" dirty="0"/>
          </a:p>
        </p:txBody>
      </p:sp>
      <p:sp>
        <p:nvSpPr>
          <p:cNvPr id="11" name="card183"/>
          <p:cNvSpPr/>
          <p:nvPr/>
        </p:nvSpPr>
        <p:spPr>
          <a:xfrm>
            <a:off x="8046720" y="1508760"/>
            <a:ext cx="3566160" cy="731520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/>
        </p:spPr>
      </p:sp>
      <p:sp>
        <p:nvSpPr>
          <p:cNvPr id="12" name="txt184"/>
          <p:cNvSpPr txBox="1"/>
          <p:nvPr/>
        </p:nvSpPr>
        <p:spPr>
          <a:xfrm>
            <a:off x="8046720" y="15087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Erros frequentes</a:t>
            </a:r>
            <a:endParaRPr lang="en-US" sz="2000" dirty="0"/>
          </a:p>
        </p:txBody>
      </p:sp>
      <p:sp>
        <p:nvSpPr>
          <p:cNvPr id="13" name="card185"/>
          <p:cNvSpPr/>
          <p:nvPr/>
        </p:nvSpPr>
        <p:spPr>
          <a:xfrm>
            <a:off x="8046720" y="2377440"/>
            <a:ext cx="356616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4" name="txt186"/>
          <p:cNvSpPr txBox="1"/>
          <p:nvPr/>
        </p:nvSpPr>
        <p:spPr>
          <a:xfrm>
            <a:off x="8321040" y="260604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Pensar só em Portrait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Usar dimensões fixas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Pouco contraste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Elementos pequenos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Erros pouco claros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Acessibilidade só no fim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Quiz: Questão 1</a:t>
            </a:r>
            <a:endParaRPr lang="en-US" sz="3200" dirty="0"/>
          </a:p>
        </p:txBody>
      </p:sp>
      <p:sp>
        <p:nvSpPr>
          <p:cNvPr id="4" name="txt187"/>
          <p:cNvSpPr txBox="1"/>
          <p:nvPr/>
        </p:nvSpPr>
        <p:spPr>
          <a:xfrm>
            <a:off x="548640" y="150876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Uma aplicação funciona bem no teu telemóvel. Podes assumir que a interface está bem adaptada?</a:t>
            </a:r>
            <a:endParaRPr lang="en-US" sz="2200" dirty="0"/>
          </a:p>
        </p:txBody>
      </p:sp>
      <p:sp>
        <p:nvSpPr>
          <p:cNvPr id="5" name="card188"/>
          <p:cNvSpPr/>
          <p:nvPr/>
        </p:nvSpPr>
        <p:spPr>
          <a:xfrm>
            <a:off x="548640" y="2743200"/>
            <a:ext cx="544068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6" name="num189"/>
          <p:cNvSpPr/>
          <p:nvPr/>
        </p:nvSpPr>
        <p:spPr>
          <a:xfrm>
            <a:off x="731520" y="31775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xt190"/>
          <p:cNvSpPr txBox="1"/>
          <p:nvPr/>
        </p:nvSpPr>
        <p:spPr>
          <a:xfrm>
            <a:off x="731520" y="31775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8" name="txt191"/>
          <p:cNvSpPr txBox="1"/>
          <p:nvPr/>
        </p:nvSpPr>
        <p:spPr>
          <a:xfrm>
            <a:off x="1463040" y="2743200"/>
            <a:ext cx="4343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Sim, se funciona num ecrã funciona em todos.</a:t>
            </a:r>
            <a:endParaRPr lang="en-US" sz="1700" dirty="0"/>
          </a:p>
        </p:txBody>
      </p:sp>
      <p:sp>
        <p:nvSpPr>
          <p:cNvPr id="9" name="card192"/>
          <p:cNvSpPr/>
          <p:nvPr/>
        </p:nvSpPr>
        <p:spPr>
          <a:xfrm>
            <a:off x="6172200" y="2743200"/>
            <a:ext cx="544068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0" name="num193"/>
          <p:cNvSpPr/>
          <p:nvPr/>
        </p:nvSpPr>
        <p:spPr>
          <a:xfrm>
            <a:off x="6355080" y="31775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xt194"/>
          <p:cNvSpPr txBox="1"/>
          <p:nvPr/>
        </p:nvSpPr>
        <p:spPr>
          <a:xfrm>
            <a:off x="6355080" y="31775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2" name="txt195"/>
          <p:cNvSpPr txBox="1"/>
          <p:nvPr/>
        </p:nvSpPr>
        <p:spPr>
          <a:xfrm>
            <a:off x="7086600" y="2743200"/>
            <a:ext cx="4343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Não, outros dispositivos têm tamanhos e orientações diferentes.</a:t>
            </a:r>
            <a:endParaRPr lang="en-US" sz="1700" dirty="0"/>
          </a:p>
        </p:txBody>
      </p:sp>
      <p:sp>
        <p:nvSpPr>
          <p:cNvPr id="13" name="card196"/>
          <p:cNvSpPr/>
          <p:nvPr/>
        </p:nvSpPr>
        <p:spPr>
          <a:xfrm>
            <a:off x="548640" y="4297680"/>
            <a:ext cx="544068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4" name="num197"/>
          <p:cNvSpPr/>
          <p:nvPr/>
        </p:nvSpPr>
        <p:spPr>
          <a:xfrm>
            <a:off x="731520" y="47320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xt198"/>
          <p:cNvSpPr txBox="1"/>
          <p:nvPr/>
        </p:nvSpPr>
        <p:spPr>
          <a:xfrm>
            <a:off x="731520" y="47320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6" name="txt199"/>
          <p:cNvSpPr txBox="1"/>
          <p:nvPr/>
        </p:nvSpPr>
        <p:spPr>
          <a:xfrm>
            <a:off x="1463040" y="4297680"/>
            <a:ext cx="4343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Sim, desde que use componentes Material Design.</a:t>
            </a:r>
            <a:endParaRPr lang="en-US" sz="1700" dirty="0"/>
          </a:p>
        </p:txBody>
      </p:sp>
      <p:sp>
        <p:nvSpPr>
          <p:cNvPr id="17" name="card200"/>
          <p:cNvSpPr/>
          <p:nvPr/>
        </p:nvSpPr>
        <p:spPr>
          <a:xfrm>
            <a:off x="6172200" y="4297680"/>
            <a:ext cx="544068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8" name="num201"/>
          <p:cNvSpPr/>
          <p:nvPr/>
        </p:nvSpPr>
        <p:spPr>
          <a:xfrm>
            <a:off x="6355080" y="47320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xt202"/>
          <p:cNvSpPr txBox="1"/>
          <p:nvPr/>
        </p:nvSpPr>
        <p:spPr>
          <a:xfrm>
            <a:off x="6355080" y="47320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20" name="txt203"/>
          <p:cNvSpPr txBox="1"/>
          <p:nvPr/>
        </p:nvSpPr>
        <p:spPr>
          <a:xfrm>
            <a:off x="7086600" y="4297680"/>
            <a:ext cx="4343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Só é preciso pensar nisto no Compose, não no XML.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6B6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222704"/>
      </p:ext>
    </p:extLst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Resposta: B</a:t>
            </a:r>
            <a:endParaRPr lang="en-US" sz="3200" dirty="0"/>
          </a:p>
        </p:txBody>
      </p:sp>
      <p:sp>
        <p:nvSpPr>
          <p:cNvPr id="3" name="card204"/>
          <p:cNvSpPr/>
          <p:nvPr/>
        </p:nvSpPr>
        <p:spPr>
          <a:xfrm>
            <a:off x="548640" y="1508760"/>
            <a:ext cx="544068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4" name="num205"/>
          <p:cNvSpPr/>
          <p:nvPr/>
        </p:nvSpPr>
        <p:spPr>
          <a:xfrm>
            <a:off x="731520" y="18059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xt206"/>
          <p:cNvSpPr txBox="1"/>
          <p:nvPr/>
        </p:nvSpPr>
        <p:spPr>
          <a:xfrm>
            <a:off x="731520" y="18059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6" name="txt207"/>
          <p:cNvSpPr txBox="1"/>
          <p:nvPr/>
        </p:nvSpPr>
        <p:spPr>
          <a:xfrm>
            <a:off x="1463040" y="150876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Sim, se funciona num ecrã funciona em todos.</a:t>
            </a:r>
            <a:endParaRPr lang="en-US" sz="1600" dirty="0"/>
          </a:p>
        </p:txBody>
      </p:sp>
      <p:sp>
        <p:nvSpPr>
          <p:cNvPr id="7" name="card208"/>
          <p:cNvSpPr/>
          <p:nvPr/>
        </p:nvSpPr>
        <p:spPr>
          <a:xfrm>
            <a:off x="6172200" y="1508760"/>
            <a:ext cx="544068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8" name="num209"/>
          <p:cNvSpPr/>
          <p:nvPr/>
        </p:nvSpPr>
        <p:spPr>
          <a:xfrm>
            <a:off x="6355080" y="18059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xt210"/>
          <p:cNvSpPr txBox="1"/>
          <p:nvPr/>
        </p:nvSpPr>
        <p:spPr>
          <a:xfrm>
            <a:off x="6355080" y="18059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0" name="txt211"/>
          <p:cNvSpPr txBox="1"/>
          <p:nvPr/>
        </p:nvSpPr>
        <p:spPr>
          <a:xfrm>
            <a:off x="7086600" y="150876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Não, outros dispositivos têm tamanhos e orientações diferentes.</a:t>
            </a:r>
            <a:endParaRPr lang="en-US" sz="1600" dirty="0"/>
          </a:p>
        </p:txBody>
      </p:sp>
      <p:sp>
        <p:nvSpPr>
          <p:cNvPr id="11" name="card212"/>
          <p:cNvSpPr/>
          <p:nvPr/>
        </p:nvSpPr>
        <p:spPr>
          <a:xfrm>
            <a:off x="548640" y="2788920"/>
            <a:ext cx="544068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2" name="num213"/>
          <p:cNvSpPr/>
          <p:nvPr/>
        </p:nvSpPr>
        <p:spPr>
          <a:xfrm>
            <a:off x="731520" y="30861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xt214"/>
          <p:cNvSpPr txBox="1"/>
          <p:nvPr/>
        </p:nvSpPr>
        <p:spPr>
          <a:xfrm>
            <a:off x="731520" y="30861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4" name="txt215"/>
          <p:cNvSpPr txBox="1"/>
          <p:nvPr/>
        </p:nvSpPr>
        <p:spPr>
          <a:xfrm>
            <a:off x="1463040" y="278892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Sim, desde que use componentes Material Design.</a:t>
            </a:r>
            <a:endParaRPr lang="en-US" sz="1600" dirty="0"/>
          </a:p>
        </p:txBody>
      </p:sp>
      <p:sp>
        <p:nvSpPr>
          <p:cNvPr id="15" name="card216"/>
          <p:cNvSpPr/>
          <p:nvPr/>
        </p:nvSpPr>
        <p:spPr>
          <a:xfrm>
            <a:off x="6172200" y="2788920"/>
            <a:ext cx="544068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6" name="num217"/>
          <p:cNvSpPr/>
          <p:nvPr/>
        </p:nvSpPr>
        <p:spPr>
          <a:xfrm>
            <a:off x="6355080" y="30861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xt218"/>
          <p:cNvSpPr txBox="1"/>
          <p:nvPr/>
        </p:nvSpPr>
        <p:spPr>
          <a:xfrm>
            <a:off x="6355080" y="30861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18" name="txt219"/>
          <p:cNvSpPr txBox="1"/>
          <p:nvPr/>
        </p:nvSpPr>
        <p:spPr>
          <a:xfrm>
            <a:off x="7086600" y="278892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Só é preciso pensar nisto no Compose, não no XML.</a:t>
            </a:r>
            <a:endParaRPr lang="en-US" sz="1600" dirty="0"/>
          </a:p>
        </p:txBody>
      </p:sp>
      <p:sp>
        <p:nvSpPr>
          <p:cNvPr id="19" name="card220"/>
          <p:cNvSpPr/>
          <p:nvPr/>
        </p:nvSpPr>
        <p:spPr>
          <a:xfrm>
            <a:off x="548640" y="4206240"/>
            <a:ext cx="110642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20" name="txt221"/>
          <p:cNvSpPr txBox="1"/>
          <p:nvPr/>
        </p:nvSpPr>
        <p:spPr>
          <a:xfrm>
            <a:off x="822960" y="44348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Porquê?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Outros dispositivos têm tamanhos e orientações diferentes, e a interface pode deixar de estar organizada ou funcional. Usar Material ou Compose não garante isso por si só.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6B6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06339"/>
      </p:ext>
    </p:extLst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Quiz: Questão 2</a:t>
            </a:r>
            <a:endParaRPr lang="en-US" sz="3200" dirty="0"/>
          </a:p>
        </p:txBody>
      </p:sp>
      <p:sp>
        <p:nvSpPr>
          <p:cNvPr id="4" name="txt222"/>
          <p:cNvSpPr txBox="1"/>
          <p:nvPr/>
        </p:nvSpPr>
        <p:spPr>
          <a:xfrm>
            <a:off x="548640" y="150876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Qual é a melhor abordagem aos componentes do Material Design?</a:t>
            </a:r>
            <a:endParaRPr lang="en-US" sz="2200" dirty="0"/>
          </a:p>
        </p:txBody>
      </p:sp>
      <p:sp>
        <p:nvSpPr>
          <p:cNvPr id="5" name="card223"/>
          <p:cNvSpPr/>
          <p:nvPr/>
        </p:nvSpPr>
        <p:spPr>
          <a:xfrm>
            <a:off x="548640" y="2743200"/>
            <a:ext cx="544068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6" name="num224"/>
          <p:cNvSpPr/>
          <p:nvPr/>
        </p:nvSpPr>
        <p:spPr>
          <a:xfrm>
            <a:off x="731520" y="31775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xt225"/>
          <p:cNvSpPr txBox="1"/>
          <p:nvPr/>
        </p:nvSpPr>
        <p:spPr>
          <a:xfrm>
            <a:off x="731520" y="31775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8" name="txt226"/>
          <p:cNvSpPr txBox="1"/>
          <p:nvPr/>
        </p:nvSpPr>
        <p:spPr>
          <a:xfrm>
            <a:off x="1463040" y="2743200"/>
            <a:ext cx="4343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Criar todos os componentes de raiz para ter um aspeto único.</a:t>
            </a:r>
            <a:endParaRPr lang="en-US" sz="1700" dirty="0"/>
          </a:p>
        </p:txBody>
      </p:sp>
      <p:sp>
        <p:nvSpPr>
          <p:cNvPr id="9" name="card227"/>
          <p:cNvSpPr/>
          <p:nvPr/>
        </p:nvSpPr>
        <p:spPr>
          <a:xfrm>
            <a:off x="6172200" y="2743200"/>
            <a:ext cx="544068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0" name="num228"/>
          <p:cNvSpPr/>
          <p:nvPr/>
        </p:nvSpPr>
        <p:spPr>
          <a:xfrm>
            <a:off x="6355080" y="31775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xt229"/>
          <p:cNvSpPr txBox="1"/>
          <p:nvPr/>
        </p:nvSpPr>
        <p:spPr>
          <a:xfrm>
            <a:off x="6355080" y="31775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2" name="txt230"/>
          <p:cNvSpPr txBox="1"/>
          <p:nvPr/>
        </p:nvSpPr>
        <p:spPr>
          <a:xfrm>
            <a:off x="7086600" y="2743200"/>
            <a:ext cx="4343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Usar sempre os componentes por defeito, sem nunca os personalizar.</a:t>
            </a:r>
            <a:endParaRPr lang="en-US" sz="1700" dirty="0"/>
          </a:p>
        </p:txBody>
      </p:sp>
      <p:sp>
        <p:nvSpPr>
          <p:cNvPr id="13" name="card231"/>
          <p:cNvSpPr/>
          <p:nvPr/>
        </p:nvSpPr>
        <p:spPr>
          <a:xfrm>
            <a:off x="548640" y="4297680"/>
            <a:ext cx="544068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4" name="num232"/>
          <p:cNvSpPr/>
          <p:nvPr/>
        </p:nvSpPr>
        <p:spPr>
          <a:xfrm>
            <a:off x="731520" y="47320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xt233"/>
          <p:cNvSpPr txBox="1"/>
          <p:nvPr/>
        </p:nvSpPr>
        <p:spPr>
          <a:xfrm>
            <a:off x="731520" y="47320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6" name="txt234"/>
          <p:cNvSpPr txBox="1"/>
          <p:nvPr/>
        </p:nvSpPr>
        <p:spPr>
          <a:xfrm>
            <a:off x="1463040" y="4297680"/>
            <a:ext cx="4343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Usar os componentes Material e personalizá-los pelo tema só quando for preciso.</a:t>
            </a:r>
            <a:endParaRPr lang="en-US" sz="1700" dirty="0"/>
          </a:p>
        </p:txBody>
      </p:sp>
      <p:sp>
        <p:nvSpPr>
          <p:cNvPr id="17" name="card235"/>
          <p:cNvSpPr/>
          <p:nvPr/>
        </p:nvSpPr>
        <p:spPr>
          <a:xfrm>
            <a:off x="6172200" y="4297680"/>
            <a:ext cx="544068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8" name="num236"/>
          <p:cNvSpPr/>
          <p:nvPr/>
        </p:nvSpPr>
        <p:spPr>
          <a:xfrm>
            <a:off x="6355080" y="47320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xt237"/>
          <p:cNvSpPr txBox="1"/>
          <p:nvPr/>
        </p:nvSpPr>
        <p:spPr>
          <a:xfrm>
            <a:off x="6355080" y="47320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20" name="txt238"/>
          <p:cNvSpPr txBox="1"/>
          <p:nvPr/>
        </p:nvSpPr>
        <p:spPr>
          <a:xfrm>
            <a:off x="7086600" y="4297680"/>
            <a:ext cx="4343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Configurar a cor de cada componente individualmente em todos os ecrãs.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6B6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542828"/>
      </p:ext>
    </p:extLst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Resposta: C</a:t>
            </a:r>
            <a:endParaRPr lang="en-US" sz="3200" dirty="0"/>
          </a:p>
        </p:txBody>
      </p:sp>
      <p:sp>
        <p:nvSpPr>
          <p:cNvPr id="3" name="card239"/>
          <p:cNvSpPr/>
          <p:nvPr/>
        </p:nvSpPr>
        <p:spPr>
          <a:xfrm>
            <a:off x="548640" y="1508760"/>
            <a:ext cx="544068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4" name="num240"/>
          <p:cNvSpPr/>
          <p:nvPr/>
        </p:nvSpPr>
        <p:spPr>
          <a:xfrm>
            <a:off x="731520" y="18059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xt241"/>
          <p:cNvSpPr txBox="1"/>
          <p:nvPr/>
        </p:nvSpPr>
        <p:spPr>
          <a:xfrm>
            <a:off x="731520" y="18059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6" name="txt242"/>
          <p:cNvSpPr txBox="1"/>
          <p:nvPr/>
        </p:nvSpPr>
        <p:spPr>
          <a:xfrm>
            <a:off x="1463040" y="150876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Criar todos os componentes de raiz para ter um aspeto único.</a:t>
            </a:r>
            <a:endParaRPr lang="en-US" sz="1600" dirty="0"/>
          </a:p>
        </p:txBody>
      </p:sp>
      <p:sp>
        <p:nvSpPr>
          <p:cNvPr id="7" name="card243"/>
          <p:cNvSpPr/>
          <p:nvPr/>
        </p:nvSpPr>
        <p:spPr>
          <a:xfrm>
            <a:off x="6172200" y="1508760"/>
            <a:ext cx="544068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8" name="num244"/>
          <p:cNvSpPr/>
          <p:nvPr/>
        </p:nvSpPr>
        <p:spPr>
          <a:xfrm>
            <a:off x="6355080" y="18059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xt245"/>
          <p:cNvSpPr txBox="1"/>
          <p:nvPr/>
        </p:nvSpPr>
        <p:spPr>
          <a:xfrm>
            <a:off x="6355080" y="18059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0" name="txt246"/>
          <p:cNvSpPr txBox="1"/>
          <p:nvPr/>
        </p:nvSpPr>
        <p:spPr>
          <a:xfrm>
            <a:off x="7086600" y="150876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Usar sempre os componentes por defeito, sem nunca os personalizar.</a:t>
            </a:r>
            <a:endParaRPr lang="en-US" sz="1600" dirty="0"/>
          </a:p>
        </p:txBody>
      </p:sp>
      <p:sp>
        <p:nvSpPr>
          <p:cNvPr id="11" name="card247"/>
          <p:cNvSpPr/>
          <p:nvPr/>
        </p:nvSpPr>
        <p:spPr>
          <a:xfrm>
            <a:off x="548640" y="2788920"/>
            <a:ext cx="544068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12" name="num248"/>
          <p:cNvSpPr/>
          <p:nvPr/>
        </p:nvSpPr>
        <p:spPr>
          <a:xfrm>
            <a:off x="731520" y="30861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xt249"/>
          <p:cNvSpPr txBox="1"/>
          <p:nvPr/>
        </p:nvSpPr>
        <p:spPr>
          <a:xfrm>
            <a:off x="731520" y="30861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4" name="txt250"/>
          <p:cNvSpPr txBox="1"/>
          <p:nvPr/>
        </p:nvSpPr>
        <p:spPr>
          <a:xfrm>
            <a:off x="1463040" y="278892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Usar os componentes Material e personalizá-los pelo tema só quando for preciso.</a:t>
            </a:r>
            <a:endParaRPr lang="en-US" sz="1600" dirty="0"/>
          </a:p>
        </p:txBody>
      </p:sp>
      <p:sp>
        <p:nvSpPr>
          <p:cNvPr id="15" name="card251"/>
          <p:cNvSpPr/>
          <p:nvPr/>
        </p:nvSpPr>
        <p:spPr>
          <a:xfrm>
            <a:off x="6172200" y="2788920"/>
            <a:ext cx="544068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6" name="num252"/>
          <p:cNvSpPr/>
          <p:nvPr/>
        </p:nvSpPr>
        <p:spPr>
          <a:xfrm>
            <a:off x="6355080" y="30861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xt253"/>
          <p:cNvSpPr txBox="1"/>
          <p:nvPr/>
        </p:nvSpPr>
        <p:spPr>
          <a:xfrm>
            <a:off x="6355080" y="30861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18" name="txt254"/>
          <p:cNvSpPr txBox="1"/>
          <p:nvPr/>
        </p:nvSpPr>
        <p:spPr>
          <a:xfrm>
            <a:off x="7086600" y="278892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Configurar a cor de cada componente individualmente em todos os ecrãs.</a:t>
            </a:r>
            <a:endParaRPr lang="en-US" sz="1600" dirty="0"/>
          </a:p>
        </p:txBody>
      </p:sp>
      <p:sp>
        <p:nvSpPr>
          <p:cNvPr id="19" name="card255"/>
          <p:cNvSpPr/>
          <p:nvPr/>
        </p:nvSpPr>
        <p:spPr>
          <a:xfrm>
            <a:off x="548640" y="4206240"/>
            <a:ext cx="110642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20" name="txt256"/>
          <p:cNvSpPr txBox="1"/>
          <p:nvPr/>
        </p:nvSpPr>
        <p:spPr>
          <a:xfrm>
            <a:off x="822960" y="44348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Porquê?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Os componentes Material dão consistência e já trazem comportamento. Personalizamos quando há uma necessidade específica, de preferência pelo tema e não componente a componente.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B6B6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05972"/>
      </p:ext>
    </p:extLst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Conclusão</a:t>
            </a:r>
            <a:endParaRPr lang="en-US" sz="3200" dirty="0"/>
          </a:p>
        </p:txBody>
      </p:sp>
      <p:sp>
        <p:nvSpPr>
          <p:cNvPr id="4" name="txt257"/>
          <p:cNvSpPr txBox="1"/>
          <p:nvPr/>
        </p:nvSpPr>
        <p:spPr>
          <a:xfrm>
            <a:off x="548640" y="164592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Não basta construir uma interface que funcione.</a:t>
            </a:r>
            <a:endParaRPr lang="en-US" sz="2600" dirty="0"/>
          </a:p>
        </p:txBody>
      </p:sp>
      <p:sp>
        <p:nvSpPr>
          <p:cNvPr id="5" name="txt258"/>
          <p:cNvSpPr txBox="1"/>
          <p:nvPr/>
        </p:nvSpPr>
        <p:spPr>
          <a:xfrm>
            <a:off x="548640" y="320040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escolha entre XML e Compose altera a forma como construímos a interface, mas os princípios de boa experiência de utilização e adaptação mantêm-se em qualquer abordagem.</a:t>
            </a:r>
            <a:endParaRPr lang="en-US" sz="1800" dirty="0"/>
          </a:p>
        </p:txBody>
      </p:sp>
      <p:sp>
        <p:nvSpPr>
          <p:cNvPr id="6" name="card259"/>
          <p:cNvSpPr/>
          <p:nvPr/>
        </p:nvSpPr>
        <p:spPr>
          <a:xfrm>
            <a:off x="6766560" y="1645920"/>
            <a:ext cx="237744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7" name="txt260"/>
          <p:cNvSpPr txBox="1"/>
          <p:nvPr/>
        </p:nvSpPr>
        <p:spPr>
          <a:xfrm>
            <a:off x="6766560" y="16459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Adaptação</a:t>
            </a:r>
            <a:endParaRPr lang="en-US" sz="1900" dirty="0"/>
          </a:p>
        </p:txBody>
      </p:sp>
      <p:sp>
        <p:nvSpPr>
          <p:cNvPr id="8" name="card261"/>
          <p:cNvSpPr/>
          <p:nvPr/>
        </p:nvSpPr>
        <p:spPr>
          <a:xfrm>
            <a:off x="9326880" y="1645920"/>
            <a:ext cx="2377440" cy="13716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</p:sp>
      <p:sp>
        <p:nvSpPr>
          <p:cNvPr id="9" name="txt262"/>
          <p:cNvSpPr txBox="1"/>
          <p:nvPr/>
        </p:nvSpPr>
        <p:spPr>
          <a:xfrm>
            <a:off x="9326880" y="16459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Consistência</a:t>
            </a:r>
            <a:endParaRPr lang="en-US" sz="1900" dirty="0"/>
          </a:p>
        </p:txBody>
      </p:sp>
      <p:sp>
        <p:nvSpPr>
          <p:cNvPr id="10" name="card263"/>
          <p:cNvSpPr/>
          <p:nvPr/>
        </p:nvSpPr>
        <p:spPr>
          <a:xfrm>
            <a:off x="6766560" y="3200400"/>
            <a:ext cx="2377440" cy="137160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/>
        </p:spPr>
      </p:sp>
      <p:sp>
        <p:nvSpPr>
          <p:cNvPr id="11" name="txt264"/>
          <p:cNvSpPr txBox="1"/>
          <p:nvPr/>
        </p:nvSpPr>
        <p:spPr>
          <a:xfrm>
            <a:off x="6766560" y="32004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Acessibilidade</a:t>
            </a:r>
            <a:endParaRPr lang="en-US" sz="1900" dirty="0"/>
          </a:p>
        </p:txBody>
      </p:sp>
      <p:sp>
        <p:nvSpPr>
          <p:cNvPr id="12" name="card265"/>
          <p:cNvSpPr/>
          <p:nvPr/>
        </p:nvSpPr>
        <p:spPr>
          <a:xfrm>
            <a:off x="9326880" y="3200400"/>
            <a:ext cx="2377440" cy="137160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/>
        </p:spPr>
      </p:sp>
      <p:sp>
        <p:nvSpPr>
          <p:cNvPr id="13" name="txt266"/>
          <p:cNvSpPr txBox="1"/>
          <p:nvPr/>
        </p:nvSpPr>
        <p:spPr>
          <a:xfrm>
            <a:off x="9326880" y="32004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Feedback</a:t>
            </a:r>
            <a:endParaRPr lang="en-US" sz="1900" dirty="0"/>
          </a:p>
        </p:txBody>
      </p:sp>
      <p:sp>
        <p:nvSpPr>
          <p:cNvPr id="14" name="txt267"/>
          <p:cNvSpPr txBox="1"/>
          <p:nvPr/>
        </p:nvSpPr>
        <p:spPr>
          <a:xfrm>
            <a:off x="54864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Conclusão feita em conjunto pelos três elementos do grupo.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6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822960" y="155448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pt-PT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Interfaces Adaptativas e Experiência do Utilizador</a:t>
            </a:r>
            <a:endParaRPr lang="pt-PT" sz="4000" dirty="0"/>
          </a:p>
        </p:txBody>
      </p:sp>
      <p:sp>
        <p:nvSpPr>
          <p:cNvPr id="3" name="Subtítulo"/>
          <p:cNvSpPr txBox="1"/>
          <p:nvPr/>
        </p:nvSpPr>
        <p:spPr>
          <a:xfrm>
            <a:off x="822960" y="411480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PT" sz="2200" dirty="0">
                <a:solidFill>
                  <a:schemeClr val="accent5"/>
                </a:solidFill>
              </a:rPr>
              <a:t>[Nomes e Números]</a:t>
            </a:r>
            <a:endParaRPr lang="pt-PT" sz="2200" dirty="0"/>
          </a:p>
        </p:txBody>
      </p:sp>
      <p:sp>
        <p:nvSpPr>
          <p:cNvPr id="4" name="Círculo grande"/>
          <p:cNvSpPr/>
          <p:nvPr/>
        </p:nvSpPr>
        <p:spPr>
          <a:xfrm>
            <a:off x="6949440" y="1143000"/>
            <a:ext cx="4572000" cy="457200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5" name="Círculo escuro"/>
          <p:cNvSpPr/>
          <p:nvPr/>
        </p:nvSpPr>
        <p:spPr>
          <a:xfrm>
            <a:off x="10972800" y="73152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" name="Círculo verde"/>
          <p:cNvSpPr/>
          <p:nvPr/>
        </p:nvSpPr>
        <p:spPr>
          <a:xfrm>
            <a:off x="6492240" y="493776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 idx="100" hasCustomPrompt="1"/>
          </p:nvPr>
        </p:nvSpPr>
        <p:spPr>
          <a:xfrm>
            <a:off x="548640" y="45720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PT" sz="3600" b="1" dirty="0">
                <a:solidFill>
                  <a:schemeClr val="tx2"/>
                </a:solidFill>
              </a:rPr>
              <a:t>Interfaces Adaptativas e Experiência do Utilizador</a:t>
            </a:r>
            <a:endParaRPr lang="pt-PT" sz="3600" dirty="0"/>
          </a:p>
        </p:txBody>
      </p:sp>
      <p:sp>
        <p:nvSpPr>
          <p:cNvPr id="3" name="Cartão XML"/>
          <p:cNvSpPr/>
          <p:nvPr/>
        </p:nvSpPr>
        <p:spPr>
          <a:xfrm>
            <a:off x="548640" y="2743200"/>
            <a:ext cx="3520440" cy="2011680"/>
          </a:xfrm>
          <a:prstGeom prst="roundRect">
            <a:avLst>
              <a:gd name="adj" fmla="val 7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2400" b="1" dirty="0">
                <a:solidFill>
                  <a:schemeClr val="bg1"/>
                </a:solidFill>
              </a:rPr>
              <a:t>XML</a:t>
            </a:r>
            <a:endParaRPr lang="pt-PT" sz="2400" dirty="0"/>
          </a:p>
        </p:txBody>
      </p:sp>
      <p:sp>
        <p:nvSpPr>
          <p:cNvPr id="4" name="Cartão Jetpack Compose"/>
          <p:cNvSpPr/>
          <p:nvPr/>
        </p:nvSpPr>
        <p:spPr>
          <a:xfrm>
            <a:off x="4334256" y="2743200"/>
            <a:ext cx="3520440" cy="2011680"/>
          </a:xfrm>
          <a:prstGeom prst="roundRect">
            <a:avLst>
              <a:gd name="adj" fmla="val 7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2400" b="1" dirty="0">
                <a:solidFill>
                  <a:schemeClr val="bg1"/>
                </a:solidFill>
              </a:rPr>
              <a:t>Jetpack </a:t>
            </a:r>
            <a:r>
              <a:rPr lang="pt-PT" sz="2400" b="1" dirty="0">
                <a:solidFill>
                  <a:schemeClr val="bg1"/>
                </a:solidFill>
              </a:rPr>
              <a:t>Compose</a:t>
            </a:r>
            <a:endParaRPr lang="pt-PT" sz="2400" dirty="0"/>
          </a:p>
        </p:txBody>
      </p:sp>
      <p:sp>
        <p:nvSpPr>
          <p:cNvPr id="5" name="Cartão Interfaces adaptativas + UX"/>
          <p:cNvSpPr/>
          <p:nvPr/>
        </p:nvSpPr>
        <p:spPr>
          <a:xfrm>
            <a:off x="8119872" y="2743200"/>
            <a:ext cx="3520440" cy="2011680"/>
          </a:xfrm>
          <a:prstGeom prst="roundRect">
            <a:avLst>
              <a:gd name="adj" fmla="val 7000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2400" b="1" dirty="0">
                <a:solidFill>
                  <a:schemeClr val="bg1"/>
                </a:solidFill>
              </a:rPr>
              <a:t>Interfaces adaptativas + UX</a:t>
            </a:r>
            <a:endParaRPr lang="pt-PT" sz="240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pt-PT" b="0"/>
              <a:t>2</a:t>
            </a:fld>
            <a:endParaRPr lang="pt-PT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PT" sz="3200" b="1" dirty="0">
                <a:solidFill>
                  <a:schemeClr val="tx2"/>
                </a:solidFill>
              </a:rPr>
              <a:t>Arquitetura XML</a:t>
            </a:r>
            <a:endParaRPr lang="pt-PT" sz="3200" dirty="0"/>
          </a:p>
        </p:txBody>
      </p:sp>
      <p:sp>
        <p:nvSpPr>
          <p:cNvPr id="3" name="Ficheiro layout"/>
          <p:cNvSpPr/>
          <p:nvPr/>
        </p:nvSpPr>
        <p:spPr>
          <a:xfrm>
            <a:off x="548640" y="2377440"/>
            <a:ext cx="3840480" cy="2011680"/>
          </a:xfrm>
          <a:prstGeom prst="roundRect">
            <a:avLst>
              <a:gd name="adj" fmla="val 7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2000" b="1" dirty="0">
                <a:solidFill>
                  <a:schemeClr val="tx2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activity_xml_form.xml</a:t>
            </a:r>
            <a:endParaRPr lang="pt-PT" sz="2000" dirty="0"/>
          </a:p>
        </p:txBody>
      </p:sp>
      <p:sp>
        <p:nvSpPr>
          <p:cNvPr id="4" name="Seta View Binding"/>
          <p:cNvSpPr/>
          <p:nvPr/>
        </p:nvSpPr>
        <p:spPr>
          <a:xfrm>
            <a:off x="4663440" y="2468880"/>
            <a:ext cx="2834640" cy="1828800"/>
          </a:xfrm>
          <a:prstGeom prst="rightArrow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2200" b="1" dirty="0">
                <a:solidFill>
                  <a:schemeClr val="bg1"/>
                </a:solidFill>
              </a:rPr>
              <a:t>View </a:t>
            </a:r>
            <a:r>
              <a:rPr lang="pt-PT" sz="2200" b="1" dirty="0">
                <a:solidFill>
                  <a:schemeClr val="bg1"/>
                </a:solidFill>
              </a:rPr>
              <a:t>Binding</a:t>
            </a:r>
            <a:endParaRPr lang="pt-PT" sz="2200" dirty="0"/>
          </a:p>
        </p:txBody>
      </p:sp>
      <p:sp>
        <p:nvSpPr>
          <p:cNvPr id="5" name="Ficheiro Activity"/>
          <p:cNvSpPr/>
          <p:nvPr/>
        </p:nvSpPr>
        <p:spPr>
          <a:xfrm>
            <a:off x="7799832" y="2377440"/>
            <a:ext cx="3840480" cy="2011680"/>
          </a:xfrm>
          <a:prstGeom prst="roundRect">
            <a:avLst>
              <a:gd name="adj" fmla="val 7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PT" sz="2000" b="1" dirty="0">
                <a:solidFill>
                  <a:schemeClr val="bg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XmlFormActivity.kt</a:t>
            </a:r>
            <a:endParaRPr lang="pt-PT" sz="200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pt-PT" b="0"/>
              <a:t>3</a:t>
            </a:fld>
            <a:endParaRPr lang="pt-PT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PT" sz="3200" b="1" dirty="0">
                <a:solidFill>
                  <a:schemeClr val="tx2"/>
                </a:solidFill>
              </a:rPr>
              <a:t>Posicionamento Dinâmico com ConstraintLayout</a:t>
            </a:r>
            <a:endParaRPr lang="pt-PT" sz="3200" dirty="0"/>
          </a:p>
        </p:txBody>
      </p:sp>
      <p:pic>
        <p:nvPicPr>
          <p:cNvPr id="3" name="Imagem do código" descr="Excerto do activity_xml_form.xml com ConstraintLayout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45719" y="1371600"/>
            <a:ext cx="7097514" cy="4846320"/>
          </a:xfrm>
          <a:prstGeom prst="rect">
            <a:avLst/>
          </a:prstGeom>
        </p:spPr>
      </p:pic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pt-PT" b="0"/>
              <a:t>4</a:t>
            </a:fld>
            <a:endParaRPr lang="pt-PT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PT" sz="3200" b="1" dirty="0">
                <a:solidFill>
                  <a:schemeClr val="tx2"/>
                </a:solidFill>
              </a:rPr>
              <a:t>View Binding</a:t>
            </a:r>
            <a:endParaRPr lang="pt-PT" sz="3200" dirty="0"/>
          </a:p>
        </p:txBody>
      </p:sp>
      <p:pic>
        <p:nvPicPr>
          <p:cNvPr id="3" name="Imagem do código" descr="Excerto do XmlFormActivity.kt com View Bindi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92249" y="1371600"/>
            <a:ext cx="5004453" cy="4846320"/>
          </a:xfrm>
          <a:prstGeom prst="rect">
            <a:avLst/>
          </a:prstGeom>
        </p:spPr>
      </p:pic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pt-PT" b="0"/>
              <a:t>5</a:t>
            </a:fld>
            <a:endParaRPr lang="pt-PT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PT" sz="3200" b="1" dirty="0">
                <a:solidFill>
                  <a:schemeClr val="tx2"/>
                </a:solidFill>
              </a:rPr>
              <a:t>Lógica de Negócio e Validação de Dados</a:t>
            </a:r>
            <a:endParaRPr lang="pt-PT" sz="3200" dirty="0"/>
          </a:p>
        </p:txBody>
      </p:sp>
      <p:pic>
        <p:nvPicPr>
          <p:cNvPr id="3" name="Imagem do código" descr="Excerto do XmlFormActivity.kt com a validação dos dados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61846" y="1371600"/>
            <a:ext cx="9665260" cy="4846320"/>
          </a:xfrm>
          <a:prstGeom prst="rect">
            <a:avLst/>
          </a:prstGeom>
        </p:spPr>
      </p:pic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pt-PT" b="0"/>
              <a:t>6</a:t>
            </a:fld>
            <a:endParaRPr lang="pt-PT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rde Android">
  <a:themeElements>
    <a:clrScheme name="Verde Android">
      <a:dk1>
        <a:srgbClr val="1F2A24"/>
      </a:dk1>
      <a:lt1>
        <a:srgbClr val="FFFFFF"/>
      </a:lt1>
      <a:dk2>
        <a:srgbClr val="0B3D2E"/>
      </a:dk2>
      <a:lt2>
        <a:srgbClr val="E8F5EE"/>
      </a:lt2>
      <a:accent1>
        <a:srgbClr val="2E9E6B"/>
      </a:accent1>
      <a:accent2>
        <a:srgbClr val="3DDC84"/>
      </a:accent2>
      <a:accent3>
        <a:srgbClr val="C0392B"/>
      </a:accent3>
      <a:accent4>
        <a:srgbClr val="E0A526"/>
      </a:accent4>
      <a:accent5>
        <a:srgbClr val="5B6B63"/>
      </a:accent5>
      <a:accent6>
        <a:srgbClr val="1C7293"/>
      </a:accent6>
      <a:hlink>
        <a:srgbClr val="1C7293"/>
      </a:hlink>
      <a:folHlink>
        <a:srgbClr val="5B6B63"/>
      </a:folHlink>
    </a:clrScheme>
    <a:fontScheme name="Verde Androi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Ecrã Panorâmico</PresentationFormat>
  <Paragraphs>0</Paragraphs>
  <Slides>28</Slides>
  <Notes>22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22</vt:i4>
      </vt:variant>
    </vt:vector>
  </HeadingPairs>
  <TitlesOfParts>
    <vt:vector size="23" baseType="lpstr">
      <vt:lpstr>Verde Android</vt:lpstr>
      <vt:lpstr>Apresentação do PowerPoint</vt:lpstr>
      <vt:lpstr>Contextualização</vt:lpstr>
      <vt:lpstr>Pensar em Compose</vt:lpstr>
      <vt:lpstr>Composable Functions</vt:lpstr>
      <vt:lpstr>Building Blocks do Compose</vt:lpstr>
      <vt:lpstr>Layouts</vt:lpstr>
      <vt:lpstr>Estado e Recomposição</vt:lpstr>
      <vt:lpstr>Características do Jetpack Compose</vt:lpstr>
      <vt:lpstr>Interfaces adaptativas + UX</vt:lpstr>
      <vt:lpstr>Interfaces adaptativas + UX</vt:lpstr>
      <vt:lpstr>O que é uma interface adaptativa?</vt:lpstr>
      <vt:lpstr>Diferentes tamanhos e orientações</vt:lpstr>
      <vt:lpstr>Material Design 3</vt:lpstr>
      <vt:lpstr>Material Design 3 no Compose</vt:lpstr>
      <vt:lpstr>Light e Dark Mode</vt:lpstr>
      <vt:lpstr>Acessibilidade</vt:lpstr>
      <vt:lpstr>Vantagens, limitações e erros frequentes</vt:lpstr>
      <vt:lpstr>Quiz: Questão 1</vt:lpstr>
      <vt:lpstr>Resposta: B</vt:lpstr>
      <vt:lpstr>Quiz: Questão 2</vt:lpstr>
      <vt:lpstr>Resposta: C</vt:lpstr>
      <vt:lpstr>Conclusão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Jetpack Compose</dc:title>
  <dc:subject>PptxGenJS Presentation</dc:subject>
  <dc:creator>PptxGenJS</dc:creator>
  <cp:lastModifiedBy>PptxGenJS</cp:lastModifiedBy>
  <cp:revision>3</cp:revision>
  <dcterms:created xsi:type="dcterms:W3CDTF">2026-10-06T00:33:54Z</dcterms:created>
  <dcterms:modified xsi:type="dcterms:W3CDTF">2026-10-06T00:44:48Z</dcterms:modified>
</cp:coreProperties>
</file>